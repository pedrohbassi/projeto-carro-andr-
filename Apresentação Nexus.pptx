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6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458200" y="-685800"/>
            <a:ext cx="4754880" cy="4754880"/>
          </a:xfrm>
          <a:prstGeom prst="ellipse">
            <a:avLst/>
          </a:prstGeom>
          <a:solidFill>
            <a:srgbClr val="1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281160" y="182880"/>
            <a:ext cx="2834640" cy="2834640"/>
          </a:xfrm>
          <a:prstGeom prst="ellipse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66960" y="868680"/>
            <a:ext cx="1463040" cy="1463040"/>
          </a:xfrm>
          <a:prstGeom prst="ellipse">
            <a:avLst/>
          </a:prstGeom>
          <a:solidFill>
            <a:srgbClr val="28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731520"/>
            <a:ext cx="73152" cy="1325880"/>
          </a:xfrm>
          <a:prstGeom prst="rect">
            <a:avLst/>
          </a:prstGeom>
          <a:solidFill>
            <a:srgbClr val="28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713232"/>
            <a:ext cx="6492240" cy="960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600" b="1" i="0">
                <a:solidFill>
                  <a:srgbClr val="F6F9FC"/>
                </a:solidFill>
                <a:latin typeface="Aptos"/>
              </a:rPr>
              <a:t>NEXUS</a:t>
            </a:r>
            <a:endParaRPr sz="46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87552" y="1673352"/>
            <a:ext cx="502920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 i="0">
                <a:solidFill>
                  <a:srgbClr val="28D6BE"/>
                </a:solidFill>
                <a:latin typeface="Aptos"/>
              </a:rPr>
              <a:t>GESTÃO</a:t>
            </a:r>
            <a:endParaRPr sz="2500" b="1" i="0">
              <a:solidFill>
                <a:srgbClr val="28D6BE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87552" y="2514600"/>
            <a:ext cx="6766560" cy="150685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0" i="0">
                <a:solidFill>
                  <a:srgbClr val="F6F9FC"/>
                </a:solidFill>
                <a:latin typeface="Aptos"/>
              </a:rPr>
              <a:t>Um protótipo de sistema para organizar
informações e rotinas administrativas</a:t>
            </a:r>
            <a:endParaRPr sz="2300" b="0" i="0">
              <a:solidFill>
                <a:srgbClr val="F6F9FC"/>
              </a:solidFill>
              <a:latin typeface="Aptos"/>
            </a:endParaRPr>
          </a:p>
          <a:p>
            <a:pPr algn="l">
              <a:spcAft>
                <a:spcPts val="0"/>
              </a:spcAft>
            </a:pPr>
            <a:endParaRPr sz="2300" b="0" i="0">
              <a:solidFill>
                <a:srgbClr val="F6F9FC"/>
              </a:solidFill>
              <a:latin typeface="Aptos"/>
            </a:endParaRPr>
          </a:p>
          <a:p>
            <a:pPr algn="l">
              <a:spcAft>
                <a:spcPts val="0"/>
              </a:spcAft>
            </a:pPr>
            <a:endParaRPr sz="2300" b="0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4389120" cy="110680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AEBED2"/>
                </a:solidFill>
                <a:latin typeface="Aptos"/>
              </a:rPr>
              <a:t>APRESENTAÇÃO DO PROJETO</a:t>
            </a:r>
            <a:endParaRPr sz="1100" b="1" i="0">
              <a:solidFill>
                <a:srgbClr val="AEBED2"/>
              </a:solidFill>
              <a:latin typeface="Aptos"/>
            </a:endParaRPr>
          </a:p>
          <a:p>
            <a:pPr algn="l">
              <a:spcAft>
                <a:spcPts val="0"/>
              </a:spcAft>
            </a:pPr>
            <a:r>
              <a:rPr lang="en-US" altLang="pt-BR" sz="1100" b="1" i="0">
                <a:solidFill>
                  <a:srgbClr val="AEBED2"/>
                </a:solidFill>
                <a:latin typeface="Aptos"/>
              </a:rPr>
              <a:t>Pedro Henrique Bassi - 04734-071</a:t>
            </a:r>
            <a:endParaRPr lang="en-US" altLang="pt-BR" sz="1100" b="1" i="0">
              <a:solidFill>
                <a:srgbClr val="AEBED2"/>
              </a:solidFill>
              <a:latin typeface="Aptos"/>
            </a:endParaRPr>
          </a:p>
          <a:p>
            <a:pPr algn="l">
              <a:spcAft>
                <a:spcPts val="0"/>
              </a:spcAft>
            </a:pPr>
            <a:r>
              <a:rPr lang="en-US" altLang="pt-BR" sz="1100" b="1" i="0">
                <a:solidFill>
                  <a:srgbClr val="AEBED2"/>
                </a:solidFill>
                <a:latin typeface="Aptos"/>
              </a:rPr>
              <a:t>Jo</a:t>
            </a:r>
            <a:r>
              <a:rPr lang="en-US" altLang="en-US" sz="1100" b="1" i="0">
                <a:solidFill>
                  <a:srgbClr val="AEBED2"/>
                </a:solidFill>
                <a:latin typeface="Aptos"/>
              </a:rPr>
              <a:t>ã</a:t>
            </a:r>
            <a:r>
              <a:rPr lang="en-US" altLang="pt-BR" sz="1100" b="1" i="0">
                <a:solidFill>
                  <a:srgbClr val="AEBED2"/>
                </a:solidFill>
                <a:latin typeface="Aptos"/>
              </a:rPr>
              <a:t>o Paulo Silva - 04724-079</a:t>
            </a:r>
            <a:endParaRPr lang="en-US" altLang="pt-BR" sz="1100" b="1" i="0">
              <a:solidFill>
                <a:srgbClr val="AEBED2"/>
              </a:solidFill>
              <a:latin typeface="Aptos"/>
            </a:endParaRPr>
          </a:p>
          <a:p>
            <a:pPr algn="l">
              <a:spcAft>
                <a:spcPts val="0"/>
              </a:spcAft>
            </a:pPr>
            <a:r>
              <a:rPr lang="en-US" altLang="pt-BR" sz="1100" b="1" i="0">
                <a:solidFill>
                  <a:srgbClr val="AEBED2"/>
                </a:solidFill>
                <a:latin typeface="Aptos"/>
              </a:rPr>
              <a:t>Felipe Sperli Neto - 04724-054</a:t>
            </a:r>
            <a:endParaRPr lang="en-US" altLang="pt-BR" sz="1100" b="1" i="0">
              <a:solidFill>
                <a:srgbClr val="AEBED2"/>
              </a:solidFill>
              <a:latin typeface="Aptos"/>
            </a:endParaRPr>
          </a:p>
          <a:p>
            <a:pPr algn="l">
              <a:spcAft>
                <a:spcPts val="0"/>
              </a:spcAft>
            </a:pPr>
            <a:r>
              <a:rPr lang="en-US" altLang="pt-BR" sz="1100" b="1" i="0">
                <a:solidFill>
                  <a:srgbClr val="AEBED2"/>
                </a:solidFill>
                <a:latin typeface="Aptos"/>
              </a:rPr>
              <a:t>Christian Hugo - 04724-098</a:t>
            </a:r>
            <a:endParaRPr lang="en-US" altLang="pt-BR" sz="1100" b="1" i="0">
              <a:solidFill>
                <a:srgbClr val="AEBED2"/>
              </a:solidFill>
              <a:latin typeface="Aptos"/>
            </a:endParaRPr>
          </a:p>
          <a:p>
            <a:pPr algn="l">
              <a:spcAft>
                <a:spcPts val="0"/>
              </a:spcAft>
            </a:pPr>
            <a:endParaRPr lang="en-US" altLang="pt-BR" sz="1100" b="1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1051687" y="5314950"/>
            <a:ext cx="1874519" cy="502920"/>
          </a:xfrm>
          <a:prstGeom prst="roundRect">
            <a:avLst/>
          </a:prstGeom>
          <a:solidFill>
            <a:srgbClr val="1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458841"/>
            <a:ext cx="173736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28D6BE"/>
                </a:solidFill>
                <a:latin typeface="Aptos"/>
              </a:rPr>
              <a:t>WEB + API REST</a:t>
            </a:r>
            <a:endParaRPr sz="1100" b="1" i="0">
              <a:solidFill>
                <a:srgbClr val="28D6BE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87552" y="6172200"/>
            <a:ext cx="7498079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EBED2"/>
                </a:solidFill>
                <a:latin typeface="Aptos"/>
              </a:rPr>
              <a:t>Projeto acadêmico • Java • Spring Boot • Thymeleaf</a:t>
            </a:r>
            <a:endParaRPr sz="12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109960" y="6428232"/>
            <a:ext cx="5029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AEBED2"/>
                </a:solidFill>
                <a:latin typeface="Aptos"/>
              </a:rPr>
              <a:t>01</a:t>
            </a:r>
            <a:endParaRPr sz="1000" b="1" i="0">
              <a:solidFill>
                <a:srgbClr val="AEBED2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6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943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8D6BE"/>
                </a:solidFill>
                <a:latin typeface="Aptos"/>
              </a:rPr>
              <a:t>01 • CONTEXTO</a:t>
            </a:r>
            <a:endParaRPr sz="1000" b="1" i="0">
              <a:solidFill>
                <a:srgbClr val="28D6BE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6F9FC"/>
                </a:solidFill>
                <a:latin typeface="Aptos"/>
              </a:rPr>
              <a:t>Por que o Nexus Gestão?</a:t>
            </a:r>
            <a:endParaRPr sz="29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344168"/>
            <a:ext cx="107899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AEBED2"/>
                </a:solidFill>
                <a:latin typeface="Aptos"/>
              </a:rPr>
              <a:t>A proposta é reunir diferentes áreas administrativas em uma interface clara e consistente.</a:t>
            </a:r>
            <a:endParaRPr sz="13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21792" y="1847088"/>
            <a:ext cx="713232" cy="41148"/>
          </a:xfrm>
          <a:prstGeom prst="rect">
            <a:avLst/>
          </a:prstGeom>
          <a:solidFill>
            <a:srgbClr val="28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09960" y="6428232"/>
            <a:ext cx="5029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AEBED2"/>
                </a:solidFill>
                <a:latin typeface="Aptos"/>
              </a:rPr>
              <a:t>02</a:t>
            </a:r>
            <a:endParaRPr sz="1000" b="1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58368" y="2240280"/>
            <a:ext cx="3520440" cy="2057400"/>
          </a:xfrm>
          <a:prstGeom prst="roundRect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2350008"/>
            <a:ext cx="50292" cy="1837943"/>
          </a:xfrm>
          <a:prstGeom prst="rect">
            <a:avLst/>
          </a:prstGeom>
          <a:solidFill>
            <a:srgbClr val="28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423160"/>
            <a:ext cx="4572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8D6BE"/>
                </a:solidFill>
                <a:latin typeface="Aptos"/>
              </a:rPr>
              <a:t>01</a:t>
            </a:r>
            <a:endParaRPr sz="2200" b="1" i="0">
              <a:solidFill>
                <a:srgbClr val="28D6BE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389888" y="2441448"/>
            <a:ext cx="2606039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6F9FC"/>
                </a:solidFill>
                <a:latin typeface="Aptos"/>
              </a:rPr>
              <a:t>Informação dispersa</a:t>
            </a:r>
            <a:endParaRPr sz="16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05256" y="2953512"/>
            <a:ext cx="3044952" cy="12161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EBED2"/>
                </a:solidFill>
                <a:latin typeface="Aptos"/>
              </a:rPr>
              <a:t>Dados de pessoas, contas, veículos e serviços podem ficar separados em controles diferentes.</a:t>
            </a:r>
            <a:endParaRPr sz="12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343400" y="2240280"/>
            <a:ext cx="3520440" cy="2057400"/>
          </a:xfrm>
          <a:prstGeom prst="roundRect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2350008"/>
            <a:ext cx="50292" cy="1837943"/>
          </a:xfrm>
          <a:prstGeom prst="rect">
            <a:avLst/>
          </a:prstGeom>
          <a:solidFill>
            <a:srgbClr val="5E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423160"/>
            <a:ext cx="4572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5EBEFF"/>
                </a:solidFill>
                <a:latin typeface="Aptos"/>
              </a:rPr>
              <a:t>02</a:t>
            </a:r>
            <a:endParaRPr sz="2200" b="1" i="0">
              <a:solidFill>
                <a:srgbClr val="5EBEFF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74920" y="2441448"/>
            <a:ext cx="260604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6F9FC"/>
                </a:solidFill>
                <a:latin typeface="Aptos"/>
              </a:rPr>
              <a:t>Rotina mais organizada</a:t>
            </a:r>
            <a:endParaRPr sz="16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90288" y="2953512"/>
            <a:ext cx="3044952" cy="12161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EBED2"/>
                </a:solidFill>
                <a:latin typeface="Aptos"/>
              </a:rPr>
              <a:t>Uma navegação única ajuda o usuário a localizar a área de trabalho com menos etapas.</a:t>
            </a:r>
            <a:endParaRPr sz="12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028431" y="2240280"/>
            <a:ext cx="3520440" cy="2057400"/>
          </a:xfrm>
          <a:prstGeom prst="roundRect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28431" y="2350008"/>
            <a:ext cx="50292" cy="1837943"/>
          </a:xfrm>
          <a:prstGeom prst="rect">
            <a:avLst/>
          </a:prstGeom>
          <a:solidFill>
            <a:srgbClr val="FFC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1" y="2423160"/>
            <a:ext cx="4572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FC25C"/>
                </a:solidFill>
                <a:latin typeface="Aptos"/>
              </a:rPr>
              <a:t>03</a:t>
            </a:r>
            <a:endParaRPr sz="2200" b="1" i="0">
              <a:solidFill>
                <a:srgbClr val="FFC25C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759952" y="2441448"/>
            <a:ext cx="2606039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6F9FC"/>
                </a:solidFill>
                <a:latin typeface="Aptos"/>
              </a:rPr>
              <a:t>Visão rápida</a:t>
            </a:r>
            <a:endParaRPr sz="16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275319" y="2953512"/>
            <a:ext cx="3044952" cy="12161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EBED2"/>
                </a:solidFill>
                <a:latin typeface="Aptos"/>
              </a:rPr>
              <a:t>O painel inicial oferece um resumo visual dos principais módulos do sistema.</a:t>
            </a:r>
            <a:endParaRPr sz="12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77240" y="4800600"/>
            <a:ext cx="201168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28D6BE"/>
                </a:solidFill>
                <a:latin typeface="Aptos"/>
              </a:rPr>
              <a:t>Objetivo central</a:t>
            </a:r>
            <a:endParaRPr sz="1600" b="1" i="0">
              <a:solidFill>
                <a:srgbClr val="28D6BE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77240" y="5230368"/>
            <a:ext cx="987552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F6F9FC"/>
                </a:solidFill>
                <a:latin typeface="Aptos"/>
              </a:rPr>
              <a:t>Construir uma base visual e técnica que possa evoluir para uma solução administrativa integrada.</a:t>
            </a:r>
            <a:endParaRPr sz="21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21792" y="6446520"/>
            <a:ext cx="6858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EBED2"/>
                </a:solidFill>
                <a:latin typeface="Aptos"/>
              </a:rPr>
              <a:t>NEXUS GESTÃO  •  PROJETO ACADÊMICO</a:t>
            </a:r>
            <a:endParaRPr sz="900" b="0" i="0">
              <a:solidFill>
                <a:srgbClr val="AEBED2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6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943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8D6BE"/>
                </a:solidFill>
                <a:latin typeface="Aptos"/>
              </a:rPr>
              <a:t>02 • VISÃO GERAL</a:t>
            </a:r>
            <a:endParaRPr sz="1000" b="1" i="0">
              <a:solidFill>
                <a:srgbClr val="28D6BE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6F9FC"/>
                </a:solidFill>
                <a:latin typeface="Aptos"/>
              </a:rPr>
              <a:t>O que é o Nexus Gestão?</a:t>
            </a:r>
            <a:endParaRPr sz="29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344168"/>
            <a:ext cx="107899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AEBED2"/>
                </a:solidFill>
                <a:latin typeface="Aptos"/>
              </a:rPr>
              <a:t>Um protótipo web com módulos administrativos e uma estrutura de API desenvolvida em Spring Boot.</a:t>
            </a:r>
            <a:endParaRPr sz="13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21792" y="1847088"/>
            <a:ext cx="713232" cy="41148"/>
          </a:xfrm>
          <a:prstGeom prst="rect">
            <a:avLst/>
          </a:prstGeom>
          <a:solidFill>
            <a:srgbClr val="28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09960" y="6428232"/>
            <a:ext cx="5029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AEBED2"/>
                </a:solidFill>
                <a:latin typeface="Aptos"/>
              </a:rPr>
              <a:t>03</a:t>
            </a:r>
            <a:endParaRPr sz="1000" b="1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13232" y="2212848"/>
            <a:ext cx="6629400" cy="3429000"/>
          </a:xfrm>
          <a:prstGeom prst="roundRect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2542032"/>
            <a:ext cx="23774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28D6BE"/>
                </a:solidFill>
                <a:latin typeface="Aptos"/>
              </a:rPr>
              <a:t>INTERFACE WEB</a:t>
            </a:r>
            <a:endParaRPr sz="1400" b="1" i="0">
              <a:solidFill>
                <a:srgbClr val="28D6BE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24128" y="2971800"/>
            <a:ext cx="539496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6F9FC"/>
                </a:solidFill>
                <a:latin typeface="Aptos"/>
              </a:rPr>
              <a:t>Dashboard e páginas de gestão</a:t>
            </a:r>
            <a:endParaRPr sz="23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24128" y="3657600"/>
            <a:ext cx="5303520" cy="1554480"/>
          </a:xfrm>
          <a:prstGeom prst="rect">
            <a:avLst/>
          </a:prstGeom>
          <a:noFill/>
        </p:spPr>
        <p:txBody>
          <a:bodyPr wrap="square" lIns="73152" tIns="36576" rIns="45720" bIns="27432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F6F9FC"/>
                </a:solidFill>
                <a:latin typeface="Aptos"/>
              </a:defRPr>
            </a:pPr>
            <a:r>
              <a:t>•  Navegação entre módulos</a:t>
            </a:r>
          </a:p>
          <a:p>
            <a:pPr>
              <a:spcAft>
                <a:spcPts val="900"/>
              </a:spcAft>
              <a:defRPr sz="1500">
                <a:solidFill>
                  <a:srgbClr val="F6F9FC"/>
                </a:solidFill>
                <a:latin typeface="Aptos"/>
              </a:defRPr>
            </a:pPr>
            <a:r>
              <a:t>•  Telas renderizadas com Thymeleaf</a:t>
            </a:r>
          </a:p>
          <a:p>
            <a:pPr>
              <a:spcAft>
                <a:spcPts val="900"/>
              </a:spcAft>
              <a:defRPr sz="1500">
                <a:solidFill>
                  <a:srgbClr val="F6F9FC"/>
                </a:solidFill>
                <a:latin typeface="Aptos"/>
              </a:defRPr>
            </a:pPr>
            <a:r>
              <a:t>•  Estilização própria em CSS</a:t>
            </a:r>
          </a:p>
          <a:p>
            <a:pPr>
              <a:spcAft>
                <a:spcPts val="900"/>
              </a:spcAft>
              <a:defRPr sz="1500">
                <a:solidFill>
                  <a:srgbClr val="F6F9FC"/>
                </a:solidFill>
                <a:latin typeface="Aptos"/>
              </a:defRPr>
            </a:pPr>
            <a:r>
              <a:t>•  Projeto executado localmente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35240" y="2212848"/>
            <a:ext cx="3794760" cy="3429000"/>
          </a:xfrm>
          <a:prstGeom prst="roundRect">
            <a:avLst/>
          </a:prstGeom>
          <a:solidFill>
            <a:srgbClr val="1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73568" y="2578608"/>
            <a:ext cx="22860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5EBEFF"/>
                </a:solidFill>
                <a:latin typeface="Aptos"/>
              </a:rPr>
              <a:t>API REST</a:t>
            </a:r>
            <a:endParaRPr sz="1400" b="1" i="0">
              <a:solidFill>
                <a:srgbClr val="5EBEFF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973568" y="2999232"/>
            <a:ext cx="30175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6F9FC"/>
                </a:solidFill>
                <a:latin typeface="Aptos"/>
              </a:rPr>
              <a:t>Camada de serviços</a:t>
            </a:r>
            <a:endParaRPr sz="22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973568" y="3675887"/>
            <a:ext cx="2880360" cy="1463040"/>
          </a:xfrm>
          <a:prstGeom prst="rect">
            <a:avLst/>
          </a:prstGeom>
          <a:noFill/>
        </p:spPr>
        <p:txBody>
          <a:bodyPr wrap="square" lIns="73152" tIns="36576" rIns="45720" bIns="27432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F6F9FC"/>
                </a:solidFill>
                <a:latin typeface="Aptos"/>
              </a:defRPr>
            </a:pPr>
            <a:r>
              <a:t>•  Endpoints HTTP</a:t>
            </a:r>
          </a:p>
          <a:p>
            <a:pPr>
              <a:spcAft>
                <a:spcPts val="900"/>
              </a:spcAft>
              <a:defRPr sz="1400">
                <a:solidFill>
                  <a:srgbClr val="F6F9FC"/>
                </a:solidFill>
                <a:latin typeface="Aptos"/>
              </a:defRPr>
            </a:pPr>
            <a:r>
              <a:t>•  Estrutura separada da Web</a:t>
            </a:r>
          </a:p>
          <a:p>
            <a:pPr>
              <a:spcAft>
                <a:spcPts val="900"/>
              </a:spcAft>
              <a:defRPr sz="1400">
                <a:solidFill>
                  <a:srgbClr val="F6F9FC"/>
                </a:solidFill>
                <a:latin typeface="Aptos"/>
              </a:defRPr>
            </a:pPr>
            <a:r>
              <a:t>•  Base para integração futura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5870448"/>
            <a:ext cx="105156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FFC25C"/>
                </a:solidFill>
                <a:latin typeface="Aptos"/>
              </a:rPr>
              <a:t>Nota técnica: na versão descrita no repositório, Web e API são projetos independentes e usam bancos H2 separados.</a:t>
            </a:r>
            <a:endParaRPr sz="1100" b="0" i="1">
              <a:solidFill>
                <a:srgbClr val="FFC25C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21792" y="6446520"/>
            <a:ext cx="6858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EBED2"/>
                </a:solidFill>
                <a:latin typeface="Aptos"/>
              </a:rPr>
              <a:t>NEXUS GESTÃO  •  PROJETO ACADÊMICO</a:t>
            </a:r>
            <a:endParaRPr sz="900" b="0" i="0">
              <a:solidFill>
                <a:srgbClr val="AEBED2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6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943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8D6BE"/>
                </a:solidFill>
                <a:latin typeface="Aptos"/>
              </a:rPr>
              <a:t>03 • MÓDULOS</a:t>
            </a:r>
            <a:endParaRPr sz="1000" b="1" i="0">
              <a:solidFill>
                <a:srgbClr val="28D6BE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6F9FC"/>
                </a:solidFill>
                <a:latin typeface="Aptos"/>
              </a:rPr>
              <a:t>Quatro áreas em uma mesma experiência</a:t>
            </a:r>
            <a:endParaRPr sz="29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344168"/>
            <a:ext cx="107899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AEBED2"/>
                </a:solidFill>
                <a:latin typeface="Aptos"/>
              </a:rPr>
              <a:t>Cada módulo representa uma categoria de informação administrativa.</a:t>
            </a:r>
            <a:endParaRPr sz="13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21792" y="1847088"/>
            <a:ext cx="713232" cy="41148"/>
          </a:xfrm>
          <a:prstGeom prst="rect">
            <a:avLst/>
          </a:prstGeom>
          <a:solidFill>
            <a:srgbClr val="28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09960" y="6428232"/>
            <a:ext cx="5029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AEBED2"/>
                </a:solidFill>
                <a:latin typeface="Aptos"/>
              </a:rPr>
              <a:t>04</a:t>
            </a:r>
            <a:endParaRPr sz="1000" b="1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13232" y="2194560"/>
            <a:ext cx="5257800" cy="1417320"/>
          </a:xfrm>
          <a:prstGeom prst="roundRect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2304288"/>
            <a:ext cx="50292" cy="1197864"/>
          </a:xfrm>
          <a:prstGeom prst="rect">
            <a:avLst/>
          </a:prstGeom>
          <a:solidFill>
            <a:srgbClr val="28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1832" y="2377440"/>
            <a:ext cx="4572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28D6BE"/>
                </a:solidFill>
                <a:latin typeface="Aptos"/>
              </a:rPr>
              <a:t>01</a:t>
            </a:r>
            <a:endParaRPr sz="2200" b="1" i="0">
              <a:solidFill>
                <a:srgbClr val="28D6BE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444752" y="2395728"/>
            <a:ext cx="43434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6F9FC"/>
                </a:solidFill>
                <a:latin typeface="Aptos"/>
              </a:rPr>
              <a:t>Funcionários</a:t>
            </a:r>
            <a:endParaRPr sz="16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60120" y="2907791"/>
            <a:ext cx="4782312" cy="5760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EBED2"/>
                </a:solidFill>
                <a:latin typeface="Aptos"/>
              </a:rPr>
              <a:t>Organização de informações relacionadas à equipe.</a:t>
            </a:r>
            <a:endParaRPr sz="12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6199632" y="2194560"/>
            <a:ext cx="5257800" cy="1417320"/>
          </a:xfrm>
          <a:prstGeom prst="roundRect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9632" y="2304288"/>
            <a:ext cx="50292" cy="1197864"/>
          </a:xfrm>
          <a:prstGeom prst="rect">
            <a:avLst/>
          </a:prstGeom>
          <a:solidFill>
            <a:srgbClr val="FFC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2377440"/>
            <a:ext cx="4572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FC25C"/>
                </a:solidFill>
                <a:latin typeface="Aptos"/>
              </a:rPr>
              <a:t>02</a:t>
            </a:r>
            <a:endParaRPr sz="2200" b="1" i="0">
              <a:solidFill>
                <a:srgbClr val="FFC25C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6931152" y="2395728"/>
            <a:ext cx="43434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6F9FC"/>
                </a:solidFill>
                <a:latin typeface="Aptos"/>
              </a:rPr>
              <a:t>Contas do mês</a:t>
            </a:r>
            <a:endParaRPr sz="16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46520" y="2907791"/>
            <a:ext cx="4782312" cy="5760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EBED2"/>
                </a:solidFill>
                <a:latin typeface="Aptos"/>
              </a:rPr>
              <a:t>Área dedicada ao acompanhamento de contas e despesas.</a:t>
            </a:r>
            <a:endParaRPr sz="12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713232" y="3886200"/>
            <a:ext cx="5257800" cy="1417320"/>
          </a:xfrm>
          <a:prstGeom prst="roundRect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" y="3995928"/>
            <a:ext cx="50292" cy="1197864"/>
          </a:xfrm>
          <a:prstGeom prst="rect">
            <a:avLst/>
          </a:prstGeom>
          <a:solidFill>
            <a:srgbClr val="5E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069080"/>
            <a:ext cx="4572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5EBEFF"/>
                </a:solidFill>
                <a:latin typeface="Aptos"/>
              </a:rPr>
              <a:t>03</a:t>
            </a:r>
            <a:endParaRPr sz="2200" b="1" i="0">
              <a:solidFill>
                <a:srgbClr val="5EBEFF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444752" y="4087368"/>
            <a:ext cx="43434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6F9FC"/>
                </a:solidFill>
                <a:latin typeface="Aptos"/>
              </a:rPr>
              <a:t>Veículos</a:t>
            </a:r>
            <a:endParaRPr sz="16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60120" y="4599432"/>
            <a:ext cx="4782312" cy="5760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EBED2"/>
                </a:solidFill>
                <a:latin typeface="Aptos"/>
              </a:rPr>
              <a:t>Espaço para centralizar informações de veículos.</a:t>
            </a:r>
            <a:endParaRPr sz="12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6199632" y="3886200"/>
            <a:ext cx="5257800" cy="1417320"/>
          </a:xfrm>
          <a:prstGeom prst="roundRect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9632" y="3995928"/>
            <a:ext cx="50292" cy="1197864"/>
          </a:xfrm>
          <a:prstGeom prst="rect">
            <a:avLst/>
          </a:prstGeom>
          <a:solidFill>
            <a:srgbClr val="74E0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28232" y="4069080"/>
            <a:ext cx="4572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74E0A6"/>
                </a:solidFill>
                <a:latin typeface="Aptos"/>
              </a:rPr>
              <a:t>04</a:t>
            </a:r>
            <a:endParaRPr sz="2200" b="1" i="0">
              <a:solidFill>
                <a:srgbClr val="74E0A6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6931152" y="4087368"/>
            <a:ext cx="43434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6F9FC"/>
                </a:solidFill>
                <a:latin typeface="Aptos"/>
              </a:rPr>
              <a:t>Serviços</a:t>
            </a:r>
            <a:endParaRPr sz="16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446520" y="4599432"/>
            <a:ext cx="4782312" cy="5760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EBED2"/>
                </a:solidFill>
                <a:latin typeface="Aptos"/>
              </a:rPr>
              <a:t>Área para registrar e consultar informações de serviços.</a:t>
            </a:r>
            <a:endParaRPr sz="12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77240" y="5806440"/>
            <a:ext cx="10515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AEBED2"/>
                </a:solidFill>
                <a:latin typeface="Aptos"/>
              </a:rPr>
              <a:t>Os detalhes de campos e operações podem ser ajustados conforme os requisitos finais do grupo.</a:t>
            </a:r>
            <a:endParaRPr sz="1100" b="0" i="1">
              <a:solidFill>
                <a:srgbClr val="AEBED2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21792" y="6446520"/>
            <a:ext cx="6858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EBED2"/>
                </a:solidFill>
                <a:latin typeface="Aptos"/>
              </a:rPr>
              <a:t>NEXUS GESTÃO  •  PROJETO ACADÊMICO</a:t>
            </a:r>
            <a:endParaRPr sz="900" b="0" i="0">
              <a:solidFill>
                <a:srgbClr val="AEBED2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6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943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8D6BE"/>
                </a:solidFill>
                <a:latin typeface="Aptos"/>
              </a:rPr>
              <a:t>04 • INTERFACE</a:t>
            </a:r>
            <a:endParaRPr sz="1000" b="1" i="0">
              <a:solidFill>
                <a:srgbClr val="28D6BE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6F9FC"/>
                </a:solidFill>
                <a:latin typeface="Aptos"/>
              </a:rPr>
              <a:t>Dashboard: ponto de partida</a:t>
            </a:r>
            <a:endParaRPr sz="29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344168"/>
            <a:ext cx="107899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AEBED2"/>
                </a:solidFill>
                <a:latin typeface="Aptos"/>
              </a:rPr>
              <a:t>O painel resume as áreas do sistema e orienta o usuário para a próxima ação.</a:t>
            </a:r>
            <a:endParaRPr sz="13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21792" y="1847088"/>
            <a:ext cx="713232" cy="41148"/>
          </a:xfrm>
          <a:prstGeom prst="rect">
            <a:avLst/>
          </a:prstGeom>
          <a:solidFill>
            <a:srgbClr val="28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09960" y="6428232"/>
            <a:ext cx="5029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AEBED2"/>
                </a:solidFill>
                <a:latin typeface="Aptos"/>
              </a:rPr>
              <a:t>05</a:t>
            </a:r>
            <a:endParaRPr sz="1000" b="1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85800" y="2148840"/>
            <a:ext cx="7498079" cy="3749039"/>
          </a:xfrm>
          <a:prstGeom prst="roundRect">
            <a:avLst/>
          </a:prstGeom>
          <a:solidFill>
            <a:srgbClr val="EC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2148840"/>
            <a:ext cx="1234440" cy="3749039"/>
          </a:xfrm>
          <a:prstGeom prst="rect">
            <a:avLst/>
          </a:prstGeom>
          <a:solidFill>
            <a:srgbClr val="1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359152"/>
            <a:ext cx="5029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 i="0">
                <a:solidFill>
                  <a:srgbClr val="28D6BE"/>
                </a:solidFill>
                <a:latin typeface="Aptos"/>
              </a:rPr>
              <a:t>N</a:t>
            </a:r>
            <a:endParaRPr sz="2400" b="1" i="0">
              <a:solidFill>
                <a:srgbClr val="28D6BE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32104" y="3063240"/>
            <a:ext cx="96012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>
                <a:solidFill>
                  <a:srgbClr val="F6F9FC"/>
                </a:solidFill>
                <a:latin typeface="Aptos"/>
              </a:rPr>
              <a:t>Início</a:t>
            </a:r>
            <a:endParaRPr sz="9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32104" y="3520440"/>
            <a:ext cx="96012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EBED2"/>
                </a:solidFill>
                <a:latin typeface="Aptos"/>
              </a:rPr>
              <a:t>Funcionários</a:t>
            </a:r>
            <a:endParaRPr sz="9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32104" y="3977639"/>
            <a:ext cx="96012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EBED2"/>
                </a:solidFill>
                <a:latin typeface="Aptos"/>
              </a:rPr>
              <a:t>Contas</a:t>
            </a:r>
            <a:endParaRPr sz="9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32104" y="4434840"/>
            <a:ext cx="96012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EBED2"/>
                </a:solidFill>
                <a:latin typeface="Aptos"/>
              </a:rPr>
              <a:t>Veículos</a:t>
            </a:r>
            <a:endParaRPr sz="9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832104" y="4892040"/>
            <a:ext cx="960120" cy="219456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EBED2"/>
                </a:solidFill>
                <a:latin typeface="Aptos"/>
              </a:rPr>
              <a:t>Serviços</a:t>
            </a:r>
            <a:endParaRPr sz="9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2212848" y="2487168"/>
            <a:ext cx="27432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19273D"/>
                </a:solidFill>
                <a:latin typeface="Aptos"/>
              </a:rPr>
              <a:t>Visão geral</a:t>
            </a:r>
            <a:endParaRPr sz="1800" b="1" i="0">
              <a:solidFill>
                <a:srgbClr val="19273D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212848" y="2834640"/>
            <a:ext cx="27432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A6C80"/>
                </a:solidFill>
                <a:latin typeface="Aptos"/>
              </a:rPr>
              <a:t>Resumo da gestão</a:t>
            </a:r>
            <a:endParaRPr sz="1000" b="0" i="0">
              <a:solidFill>
                <a:srgbClr val="5A6C80"/>
              </a:solidFill>
              <a:latin typeface="Aptos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194560" y="3337560"/>
            <a:ext cx="1554480" cy="1005840"/>
          </a:xfrm>
          <a:prstGeom prst="round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194560" y="3337560"/>
            <a:ext cx="1554480" cy="54864"/>
          </a:xfrm>
          <a:prstGeom prst="rect">
            <a:avLst/>
          </a:prstGeom>
          <a:solidFill>
            <a:srgbClr val="28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59152" y="3520440"/>
            <a:ext cx="11430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9273D"/>
                </a:solidFill>
                <a:latin typeface="Aptos"/>
              </a:rPr>
              <a:t>12</a:t>
            </a:r>
            <a:endParaRPr sz="2200" b="1" i="0">
              <a:solidFill>
                <a:srgbClr val="19273D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359152" y="3913632"/>
            <a:ext cx="118872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6C80"/>
                </a:solidFill>
                <a:latin typeface="Aptos"/>
              </a:rPr>
              <a:t>Funcionários</a:t>
            </a:r>
            <a:endParaRPr sz="900" b="0" i="0">
              <a:solidFill>
                <a:srgbClr val="5A6C80"/>
              </a:solidFill>
              <a:latin typeface="Aptos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3977639" y="3337560"/>
            <a:ext cx="1554480" cy="1005840"/>
          </a:xfrm>
          <a:prstGeom prst="round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977639" y="3337560"/>
            <a:ext cx="1554480" cy="54864"/>
          </a:xfrm>
          <a:prstGeom prst="rect">
            <a:avLst/>
          </a:prstGeom>
          <a:solidFill>
            <a:srgbClr val="FFC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42231" y="3520440"/>
            <a:ext cx="11430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9273D"/>
                </a:solidFill>
                <a:latin typeface="Aptos"/>
              </a:rPr>
              <a:t>08</a:t>
            </a:r>
            <a:endParaRPr sz="2200" b="1" i="0">
              <a:solidFill>
                <a:srgbClr val="19273D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142231" y="3913632"/>
            <a:ext cx="118872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6C80"/>
                </a:solidFill>
                <a:latin typeface="Aptos"/>
              </a:rPr>
              <a:t>Contas</a:t>
            </a:r>
            <a:endParaRPr sz="900" b="0" i="0">
              <a:solidFill>
                <a:srgbClr val="5A6C80"/>
              </a:solidFill>
              <a:latin typeface="Aptos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760720" y="3337560"/>
            <a:ext cx="1554480" cy="1005840"/>
          </a:xfrm>
          <a:prstGeom prst="round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760720" y="3337560"/>
            <a:ext cx="1554480" cy="54864"/>
          </a:xfrm>
          <a:prstGeom prst="rect">
            <a:avLst/>
          </a:prstGeom>
          <a:solidFill>
            <a:srgbClr val="5E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25312" y="3520440"/>
            <a:ext cx="114300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9273D"/>
                </a:solidFill>
                <a:latin typeface="Aptos"/>
              </a:rPr>
              <a:t>05</a:t>
            </a:r>
            <a:endParaRPr sz="2200" b="1" i="0">
              <a:solidFill>
                <a:srgbClr val="19273D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925312" y="3913632"/>
            <a:ext cx="118872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6C80"/>
                </a:solidFill>
                <a:latin typeface="Aptos"/>
              </a:rPr>
              <a:t>Veículos</a:t>
            </a:r>
            <a:endParaRPr sz="900" b="0" i="0">
              <a:solidFill>
                <a:srgbClr val="5A6C80"/>
              </a:solidFill>
              <a:latin typeface="Aptos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2194560" y="4572000"/>
            <a:ext cx="5120640" cy="914400"/>
          </a:xfrm>
          <a:prstGeom prst="roundRect">
            <a:avLst/>
          </a:prstGeom>
          <a:solidFill>
            <a:srgbClr val="F6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423160" y="4736592"/>
            <a:ext cx="43891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 i="0">
                <a:solidFill>
                  <a:srgbClr val="19273D"/>
                </a:solidFill>
                <a:latin typeface="Aptos"/>
              </a:rPr>
              <a:t>Acesso rápido aos módulos</a:t>
            </a:r>
            <a:endParaRPr sz="1200" b="1" i="0">
              <a:solidFill>
                <a:srgbClr val="19273D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423160" y="5074920"/>
            <a:ext cx="452628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A6C80"/>
                </a:solidFill>
                <a:latin typeface="Aptos"/>
              </a:rPr>
              <a:t>Funcionários   •   Contas   •   Veículos   •   Serviços</a:t>
            </a:r>
            <a:endParaRPr sz="900" b="0" i="0">
              <a:solidFill>
                <a:srgbClr val="5A6C80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943600" y="5641848"/>
            <a:ext cx="1828800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800" b="1" i="0">
                <a:solidFill>
                  <a:srgbClr val="5A6C80"/>
                </a:solidFill>
                <a:latin typeface="Aptos"/>
              </a:rPr>
              <a:t>EXEMPLO ILUSTRATIVO</a:t>
            </a:r>
            <a:endParaRPr sz="800" b="1" i="0">
              <a:solidFill>
                <a:srgbClr val="5A6C80"/>
              </a:solidFill>
              <a:latin typeface="Aptos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8458200" y="2240280"/>
            <a:ext cx="2971800" cy="1051560"/>
          </a:xfrm>
          <a:prstGeom prst="roundRect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58200" y="2350008"/>
            <a:ext cx="50292" cy="832103"/>
          </a:xfrm>
          <a:prstGeom prst="rect">
            <a:avLst/>
          </a:prstGeom>
          <a:solidFill>
            <a:srgbClr val="28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0" y="2441448"/>
            <a:ext cx="25603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6F9FC"/>
                </a:solidFill>
                <a:latin typeface="Aptos"/>
              </a:rPr>
              <a:t>Hierarquia visual</a:t>
            </a:r>
            <a:endParaRPr sz="16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8705088" y="2953512"/>
            <a:ext cx="2496312" cy="21031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EBED2"/>
                </a:solidFill>
                <a:latin typeface="Aptos"/>
              </a:rPr>
              <a:t>Títulos e indicadores organizam a leitura.</a:t>
            </a:r>
            <a:endParaRPr sz="12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8458200" y="3520440"/>
            <a:ext cx="2971800" cy="1051560"/>
          </a:xfrm>
          <a:prstGeom prst="roundRect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458200" y="3630168"/>
            <a:ext cx="50292" cy="832103"/>
          </a:xfrm>
          <a:prstGeom prst="rect">
            <a:avLst/>
          </a:prstGeom>
          <a:solidFill>
            <a:srgbClr val="5E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3721608"/>
            <a:ext cx="25603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6F9FC"/>
                </a:solidFill>
                <a:latin typeface="Aptos"/>
              </a:rPr>
              <a:t>Navegação</a:t>
            </a:r>
            <a:endParaRPr sz="16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8705088" y="4233672"/>
            <a:ext cx="2496312" cy="21031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EBED2"/>
                </a:solidFill>
                <a:latin typeface="Aptos"/>
              </a:rPr>
              <a:t>Menu lateral mantém os módulos acessíveis.</a:t>
            </a:r>
            <a:endParaRPr sz="12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8458200" y="4800600"/>
            <a:ext cx="2971800" cy="1051560"/>
          </a:xfrm>
          <a:prstGeom prst="roundRect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458200" y="4910328"/>
            <a:ext cx="50292" cy="832103"/>
          </a:xfrm>
          <a:prstGeom prst="rect">
            <a:avLst/>
          </a:prstGeom>
          <a:solidFill>
            <a:srgbClr val="FFC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5001768"/>
            <a:ext cx="25603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6F9FC"/>
                </a:solidFill>
                <a:latin typeface="Aptos"/>
              </a:rPr>
              <a:t>Consistência</a:t>
            </a:r>
            <a:endParaRPr sz="16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8705088" y="5513832"/>
            <a:ext cx="2496312" cy="210311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EBED2"/>
                </a:solidFill>
                <a:latin typeface="Aptos"/>
              </a:rPr>
              <a:t>Padrões de layout podem ser reutilizados.</a:t>
            </a:r>
            <a:endParaRPr sz="12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21792" y="6446520"/>
            <a:ext cx="6858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EBED2"/>
                </a:solidFill>
                <a:latin typeface="Aptos"/>
              </a:rPr>
              <a:t>NEXUS GESTÃO  •  PROJETO ACADÊMICO</a:t>
            </a:r>
            <a:endParaRPr sz="900" b="0" i="0">
              <a:solidFill>
                <a:srgbClr val="AEBED2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6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943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8D6BE"/>
                </a:solidFill>
                <a:latin typeface="Aptos"/>
              </a:rPr>
              <a:t>05 • ARQUITETURA</a:t>
            </a:r>
            <a:endParaRPr sz="1000" b="1" i="0">
              <a:solidFill>
                <a:srgbClr val="28D6BE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6F9FC"/>
                </a:solidFill>
                <a:latin typeface="Aptos"/>
              </a:rPr>
              <a:t>Como a solução está organizada</a:t>
            </a:r>
            <a:endParaRPr sz="29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344168"/>
            <a:ext cx="107899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AEBED2"/>
                </a:solidFill>
                <a:latin typeface="Aptos"/>
              </a:rPr>
              <a:t>Separação em dois projetos permite desenvolver interface e API de forma independente.</a:t>
            </a:r>
            <a:endParaRPr sz="13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21792" y="1847088"/>
            <a:ext cx="713232" cy="41148"/>
          </a:xfrm>
          <a:prstGeom prst="rect">
            <a:avLst/>
          </a:prstGeom>
          <a:solidFill>
            <a:srgbClr val="28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09960" y="6428232"/>
            <a:ext cx="5029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AEBED2"/>
                </a:solidFill>
                <a:latin typeface="Aptos"/>
              </a:rPr>
              <a:t>06</a:t>
            </a:r>
            <a:endParaRPr sz="1000" b="1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77240" y="2423160"/>
            <a:ext cx="2971800" cy="1234440"/>
          </a:xfrm>
          <a:prstGeom prst="roundRect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51760"/>
            <a:ext cx="233172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700" b="1" i="0">
                <a:solidFill>
                  <a:srgbClr val="F6F9FC"/>
                </a:solidFill>
                <a:latin typeface="Aptos"/>
              </a:rPr>
              <a:t>USUÁRIO</a:t>
            </a:r>
            <a:endParaRPr sz="17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23317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AEBED2"/>
                </a:solidFill>
                <a:latin typeface="Aptos"/>
              </a:rPr>
              <a:t>Navegador</a:t>
            </a:r>
            <a:endParaRPr sz="11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572000" y="2148840"/>
            <a:ext cx="2971800" cy="1737360"/>
          </a:xfrm>
          <a:prstGeom prst="roundRect">
            <a:avLst/>
          </a:prstGeom>
          <a:solidFill>
            <a:srgbClr val="1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441448"/>
            <a:ext cx="21488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28D6BE"/>
                </a:solidFill>
                <a:latin typeface="Aptos"/>
              </a:rPr>
              <a:t>WEB</a:t>
            </a:r>
            <a:endParaRPr sz="1800" b="1" i="0">
              <a:solidFill>
                <a:srgbClr val="28D6BE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800600" y="2926080"/>
            <a:ext cx="25146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6F9FC"/>
                </a:solidFill>
                <a:latin typeface="Aptos"/>
              </a:rPr>
              <a:t>Spring Boot + Thymeleaf</a:t>
            </a:r>
            <a:endParaRPr sz="1100" b="0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983480" y="3337560"/>
            <a:ext cx="214884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AEBED2"/>
                </a:solidFill>
                <a:latin typeface="Aptos"/>
              </a:rPr>
              <a:t>Porta 8080</a:t>
            </a:r>
            <a:endParaRPr sz="10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366760" y="2148840"/>
            <a:ext cx="2971800" cy="1737360"/>
          </a:xfrm>
          <a:prstGeom prst="roundRect">
            <a:avLst/>
          </a:prstGeom>
          <a:solidFill>
            <a:srgbClr val="1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0" y="2441448"/>
            <a:ext cx="214884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 i="0">
                <a:solidFill>
                  <a:srgbClr val="5EBEFF"/>
                </a:solidFill>
                <a:latin typeface="Aptos"/>
              </a:rPr>
              <a:t>API REST</a:t>
            </a:r>
            <a:endParaRPr sz="1800" b="1" i="0">
              <a:solidFill>
                <a:srgbClr val="5EBEFF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595360" y="2926080"/>
            <a:ext cx="25146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 i="0">
                <a:solidFill>
                  <a:srgbClr val="F6F9FC"/>
                </a:solidFill>
                <a:latin typeface="Aptos"/>
              </a:rPr>
              <a:t>Spring Boot</a:t>
            </a:r>
            <a:endParaRPr sz="1100" b="0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778240" y="3337560"/>
            <a:ext cx="214884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 i="0">
                <a:solidFill>
                  <a:srgbClr val="AEBED2"/>
                </a:solidFill>
                <a:latin typeface="Aptos"/>
              </a:rPr>
              <a:t>Porta 8081</a:t>
            </a:r>
            <a:endParaRPr sz="1000" b="0" i="0">
              <a:solidFill>
                <a:srgbClr val="AEBED2"/>
              </a:solidFill>
              <a:latin typeface="Aptos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3749039" y="3035808"/>
            <a:ext cx="822961" cy="0"/>
          </a:xfrm>
          <a:prstGeom prst="line">
            <a:avLst/>
          </a:prstGeom>
          <a:ln w="27940">
            <a:solidFill>
              <a:srgbClr val="28D6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543800" y="3035808"/>
            <a:ext cx="822960" cy="0"/>
          </a:xfrm>
          <a:prstGeom prst="line">
            <a:avLst/>
          </a:prstGeom>
          <a:ln w="27940">
            <a:solidFill>
              <a:srgbClr val="28D6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72000" y="4224528"/>
            <a:ext cx="2971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6F9FC"/>
                </a:solidFill>
                <a:latin typeface="Aptos"/>
              </a:rPr>
              <a:t>Banco H2 do projeto Web</a:t>
            </a:r>
            <a:endParaRPr sz="11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366760" y="4224528"/>
            <a:ext cx="29718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 i="0">
                <a:solidFill>
                  <a:srgbClr val="F6F9FC"/>
                </a:solidFill>
                <a:latin typeface="Aptos"/>
              </a:rPr>
              <a:t>Banco H2 do projeto API</a:t>
            </a:r>
            <a:endParaRPr sz="11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68680" y="4983480"/>
            <a:ext cx="1371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FC25C"/>
                </a:solidFill>
                <a:latin typeface="Aptos"/>
              </a:rPr>
              <a:t>Importante</a:t>
            </a:r>
            <a:endParaRPr sz="1400" b="1" i="0">
              <a:solidFill>
                <a:srgbClr val="FFC25C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148840" y="4937760"/>
            <a:ext cx="886968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 i="0">
                <a:solidFill>
                  <a:srgbClr val="F6F9FC"/>
                </a:solidFill>
                <a:latin typeface="Aptos"/>
              </a:rPr>
              <a:t>Nesta versão, os bancos são separados e a comunicação entre Web e API ainda precisa ser confirmada/implementada.</a:t>
            </a:r>
            <a:endParaRPr sz="1500" b="0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21792" y="6446520"/>
            <a:ext cx="6858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EBED2"/>
                </a:solidFill>
                <a:latin typeface="Aptos"/>
              </a:rPr>
              <a:t>NEXUS GESTÃO  •  PROJETO ACADÊMICO</a:t>
            </a:r>
            <a:endParaRPr sz="900" b="0" i="0">
              <a:solidFill>
                <a:srgbClr val="AEBED2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6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943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8D6BE"/>
                </a:solidFill>
                <a:latin typeface="Aptos"/>
              </a:rPr>
              <a:t>06 • TECNOLOGIAS</a:t>
            </a:r>
            <a:endParaRPr sz="1000" b="1" i="0">
              <a:solidFill>
                <a:srgbClr val="28D6BE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6F9FC"/>
                </a:solidFill>
                <a:latin typeface="Aptos"/>
              </a:rPr>
              <a:t>Ferramentas utilizadas</a:t>
            </a:r>
            <a:endParaRPr sz="29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344168"/>
            <a:ext cx="107899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AEBED2"/>
                </a:solidFill>
                <a:latin typeface="Aptos"/>
              </a:rPr>
              <a:t>Cada tecnologia contribui para uma parte específica do sistema.</a:t>
            </a:r>
            <a:endParaRPr sz="13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21792" y="1847088"/>
            <a:ext cx="713232" cy="41148"/>
          </a:xfrm>
          <a:prstGeom prst="rect">
            <a:avLst/>
          </a:prstGeom>
          <a:solidFill>
            <a:srgbClr val="28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09960" y="6428232"/>
            <a:ext cx="5029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AEBED2"/>
                </a:solidFill>
                <a:latin typeface="Aptos"/>
              </a:rPr>
              <a:t>07</a:t>
            </a:r>
            <a:endParaRPr sz="1000" b="1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31520" y="2240280"/>
            <a:ext cx="3429000" cy="1325880"/>
          </a:xfrm>
          <a:prstGeom prst="roundRect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441448"/>
            <a:ext cx="29260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8D6BE"/>
                </a:solidFill>
                <a:latin typeface="Aptos"/>
              </a:rPr>
              <a:t>JAVA</a:t>
            </a:r>
            <a:endParaRPr sz="1500" b="1" i="0">
              <a:solidFill>
                <a:srgbClr val="28D6BE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" y="2862072"/>
            <a:ext cx="29260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6F9FC"/>
                </a:solidFill>
                <a:latin typeface="Aptos"/>
              </a:rPr>
              <a:t>Linguagem principal</a:t>
            </a:r>
            <a:endParaRPr sz="1200" b="0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4526280" y="2240280"/>
            <a:ext cx="3429000" cy="1325880"/>
          </a:xfrm>
          <a:prstGeom prst="roundRect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0" y="2441448"/>
            <a:ext cx="29260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EBEFF"/>
                </a:solidFill>
                <a:latin typeface="Aptos"/>
              </a:rPr>
              <a:t>SPRING BOOT</a:t>
            </a:r>
            <a:endParaRPr sz="1500" b="1" i="0">
              <a:solidFill>
                <a:srgbClr val="5EBEFF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754880" y="2862072"/>
            <a:ext cx="29260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6F9FC"/>
                </a:solidFill>
                <a:latin typeface="Aptos"/>
              </a:rPr>
              <a:t>Estrutura dos projetos</a:t>
            </a:r>
            <a:endParaRPr sz="1200" b="0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8321040" y="2240280"/>
            <a:ext cx="3429000" cy="1325880"/>
          </a:xfrm>
          <a:prstGeom prst="roundRect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49640" y="2441448"/>
            <a:ext cx="29260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FC25C"/>
                </a:solidFill>
                <a:latin typeface="Aptos"/>
              </a:rPr>
              <a:t>THYMELEAF</a:t>
            </a:r>
            <a:endParaRPr sz="1500" b="1" i="0">
              <a:solidFill>
                <a:srgbClr val="FFC25C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8549640" y="2862072"/>
            <a:ext cx="29260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6F9FC"/>
                </a:solidFill>
                <a:latin typeface="Aptos"/>
              </a:rPr>
              <a:t>Renderização de páginas HTML</a:t>
            </a:r>
            <a:endParaRPr sz="1200" b="0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3429000" cy="1325880"/>
          </a:xfrm>
          <a:prstGeom prst="roundRect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29260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74E0A6"/>
                </a:solidFill>
                <a:latin typeface="Aptos"/>
              </a:rPr>
              <a:t>HTML + CSS</a:t>
            </a:r>
            <a:endParaRPr sz="1500" b="1" i="0">
              <a:solidFill>
                <a:srgbClr val="74E0A6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60120" y="4553712"/>
            <a:ext cx="29260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6F9FC"/>
                </a:solidFill>
                <a:latin typeface="Aptos"/>
              </a:rPr>
              <a:t>Estrutura e aparência da interface</a:t>
            </a:r>
            <a:endParaRPr sz="1200" b="0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526280" y="3931920"/>
            <a:ext cx="3429000" cy="1325880"/>
          </a:xfrm>
          <a:prstGeom prst="roundRect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0" y="4133088"/>
            <a:ext cx="29260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8D6BE"/>
                </a:solidFill>
                <a:latin typeface="Aptos"/>
              </a:rPr>
              <a:t>H2</a:t>
            </a:r>
            <a:endParaRPr sz="1500" b="1" i="0">
              <a:solidFill>
                <a:srgbClr val="28D6BE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754880" y="4553712"/>
            <a:ext cx="29260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6F9FC"/>
                </a:solidFill>
                <a:latin typeface="Aptos"/>
              </a:rPr>
              <a:t>Banco de dados em memória para desenvolvimento</a:t>
            </a:r>
            <a:endParaRPr sz="1200" b="0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321040" y="3931920"/>
            <a:ext cx="3429000" cy="1325880"/>
          </a:xfrm>
          <a:prstGeom prst="roundRect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49640" y="4133088"/>
            <a:ext cx="292608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5EBEFF"/>
                </a:solidFill>
                <a:latin typeface="Aptos"/>
              </a:rPr>
              <a:t>MAVEN</a:t>
            </a:r>
            <a:endParaRPr sz="1500" b="1" i="0">
              <a:solidFill>
                <a:srgbClr val="5EBEFF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8549640" y="4553712"/>
            <a:ext cx="29260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6F9FC"/>
                </a:solidFill>
                <a:latin typeface="Aptos"/>
              </a:rPr>
              <a:t>Gerenciamento de dependências e execução</a:t>
            </a:r>
            <a:endParaRPr sz="1200" b="0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777240" y="5852160"/>
            <a:ext cx="1042416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1">
                <a:solidFill>
                  <a:srgbClr val="AEBED2"/>
                </a:solidFill>
                <a:latin typeface="Aptos"/>
              </a:rPr>
              <a:t>O README do repositório recomenda Java 17+ e Maven para executar os projetos localmente.</a:t>
            </a:r>
            <a:endParaRPr sz="1100" b="0" i="1">
              <a:solidFill>
                <a:srgbClr val="AEBED2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21792" y="6446520"/>
            <a:ext cx="6858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EBED2"/>
                </a:solidFill>
                <a:latin typeface="Aptos"/>
              </a:rPr>
              <a:t>NEXUS GESTÃO  •  PROJETO ACADÊMICO</a:t>
            </a:r>
            <a:endParaRPr sz="900" b="0" i="0">
              <a:solidFill>
                <a:srgbClr val="AEBED2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6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943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8D6BE"/>
                </a:solidFill>
                <a:latin typeface="Aptos"/>
              </a:rPr>
              <a:t>07 • FLUXO DE USO</a:t>
            </a:r>
            <a:endParaRPr sz="1000" b="1" i="0">
              <a:solidFill>
                <a:srgbClr val="28D6BE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6F9FC"/>
                </a:solidFill>
                <a:latin typeface="Aptos"/>
              </a:rPr>
              <a:t>Da navegação à informação</a:t>
            </a:r>
            <a:endParaRPr sz="29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344168"/>
            <a:ext cx="107899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AEBED2"/>
                </a:solidFill>
                <a:latin typeface="Aptos"/>
              </a:rPr>
              <a:t>Fluxo conceitual de interação na interface Web.</a:t>
            </a:r>
            <a:endParaRPr sz="13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21792" y="1847088"/>
            <a:ext cx="713232" cy="41148"/>
          </a:xfrm>
          <a:prstGeom prst="rect">
            <a:avLst/>
          </a:prstGeom>
          <a:solidFill>
            <a:srgbClr val="28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09960" y="6428232"/>
            <a:ext cx="5029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AEBED2"/>
                </a:solidFill>
                <a:latin typeface="Aptos"/>
              </a:rPr>
              <a:t>08</a:t>
            </a:r>
            <a:endParaRPr sz="1000" b="1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31520" y="2606040"/>
            <a:ext cx="2514600" cy="2148840"/>
          </a:xfrm>
          <a:prstGeom prst="roundRect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816352"/>
            <a:ext cx="6858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28D6BE"/>
                </a:solidFill>
                <a:latin typeface="Aptos"/>
              </a:rPr>
              <a:t>01</a:t>
            </a:r>
            <a:endParaRPr sz="2000" b="1" i="0">
              <a:solidFill>
                <a:srgbClr val="28D6BE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32688" y="3355848"/>
            <a:ext cx="21031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6F9FC"/>
                </a:solidFill>
                <a:latin typeface="Aptos"/>
              </a:rPr>
              <a:t>Abrir o sistema</a:t>
            </a:r>
            <a:endParaRPr sz="16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32688" y="3977639"/>
            <a:ext cx="210312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AEBED2"/>
                </a:solidFill>
                <a:latin typeface="Aptos"/>
              </a:rPr>
              <a:t>Usuário acessa a aplicação local pelo navegador.</a:t>
            </a:r>
            <a:endParaRPr sz="1100" b="0" i="0">
              <a:solidFill>
                <a:srgbClr val="AEBED2"/>
              </a:solidFill>
              <a:latin typeface="Aptos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3273552" y="3657600"/>
            <a:ext cx="274320" cy="0"/>
          </a:xfrm>
          <a:prstGeom prst="line">
            <a:avLst/>
          </a:prstGeom>
          <a:ln w="25400">
            <a:solidFill>
              <a:srgbClr val="28D6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611880" y="2606040"/>
            <a:ext cx="2514600" cy="2148840"/>
          </a:xfrm>
          <a:prstGeom prst="roundRect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13048" y="2816352"/>
            <a:ext cx="6858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5EBEFF"/>
                </a:solidFill>
                <a:latin typeface="Aptos"/>
              </a:rPr>
              <a:t>02</a:t>
            </a:r>
            <a:endParaRPr sz="2000" b="1" i="0">
              <a:solidFill>
                <a:srgbClr val="5EBEFF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813048" y="3355848"/>
            <a:ext cx="21031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6F9FC"/>
                </a:solidFill>
                <a:latin typeface="Aptos"/>
              </a:rPr>
              <a:t>Escolher um módulo</a:t>
            </a:r>
            <a:endParaRPr sz="16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3813048" y="3977639"/>
            <a:ext cx="210312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AEBED2"/>
                </a:solidFill>
                <a:latin typeface="Aptos"/>
              </a:rPr>
              <a:t>Menu lateral direciona para a área desejada.</a:t>
            </a:r>
            <a:endParaRPr sz="1100" b="0" i="0">
              <a:solidFill>
                <a:srgbClr val="AEBED2"/>
              </a:solidFill>
              <a:latin typeface="Aptos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6153912" y="3657600"/>
            <a:ext cx="274320" cy="0"/>
          </a:xfrm>
          <a:prstGeom prst="line">
            <a:avLst/>
          </a:prstGeom>
          <a:ln w="25400">
            <a:solidFill>
              <a:srgbClr val="28D6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92240" y="2606040"/>
            <a:ext cx="2514600" cy="2148840"/>
          </a:xfrm>
          <a:prstGeom prst="roundRect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407" y="2816352"/>
            <a:ext cx="6858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28D6BE"/>
                </a:solidFill>
                <a:latin typeface="Aptos"/>
              </a:rPr>
              <a:t>03</a:t>
            </a:r>
            <a:endParaRPr sz="2000" b="1" i="0">
              <a:solidFill>
                <a:srgbClr val="28D6BE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93407" y="3355848"/>
            <a:ext cx="21031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6F9FC"/>
                </a:solidFill>
                <a:latin typeface="Aptos"/>
              </a:rPr>
              <a:t>Consultar ou preencher</a:t>
            </a:r>
            <a:endParaRPr sz="16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93407" y="3977639"/>
            <a:ext cx="210312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AEBED2"/>
                </a:solidFill>
                <a:latin typeface="Aptos"/>
              </a:rPr>
              <a:t>A tela apresenta campos e informações do módulo.</a:t>
            </a:r>
            <a:endParaRPr sz="1100" b="0" i="0">
              <a:solidFill>
                <a:srgbClr val="AEBED2"/>
              </a:solidFill>
              <a:latin typeface="Aptos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9034272" y="3657600"/>
            <a:ext cx="274320" cy="0"/>
          </a:xfrm>
          <a:prstGeom prst="line">
            <a:avLst/>
          </a:prstGeom>
          <a:ln w="25400">
            <a:solidFill>
              <a:srgbClr val="28D6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372600" y="2606040"/>
            <a:ext cx="2514600" cy="2148840"/>
          </a:xfrm>
          <a:prstGeom prst="roundRect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73768" y="2816352"/>
            <a:ext cx="68580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5EBEFF"/>
                </a:solidFill>
                <a:latin typeface="Aptos"/>
              </a:rPr>
              <a:t>04</a:t>
            </a:r>
            <a:endParaRPr sz="2000" b="1" i="0">
              <a:solidFill>
                <a:srgbClr val="5EBEFF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573768" y="3355848"/>
            <a:ext cx="21031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6F9FC"/>
                </a:solidFill>
                <a:latin typeface="Aptos"/>
              </a:rPr>
              <a:t>Revisar o resultado</a:t>
            </a:r>
            <a:endParaRPr sz="16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573768" y="3977639"/>
            <a:ext cx="2103120" cy="594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AEBED2"/>
                </a:solidFill>
                <a:latin typeface="Aptos"/>
              </a:rPr>
              <a:t>Usuário verifica os dados exibidos e segue a rotina.</a:t>
            </a:r>
            <a:endParaRPr sz="11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777240" y="5349240"/>
            <a:ext cx="10515600" cy="38404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1">
                <a:solidFill>
                  <a:srgbClr val="FFC25C"/>
                </a:solidFill>
                <a:latin typeface="Aptos"/>
              </a:rPr>
              <a:t>O comportamento final depende dos recursos implementados em cada tela e dos requisitos definidos pelo grupo.</a:t>
            </a:r>
            <a:endParaRPr sz="1200" b="0" i="1">
              <a:solidFill>
                <a:srgbClr val="FFC25C"/>
              </a:solidFill>
              <a:latin typeface="Apto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21792" y="6446520"/>
            <a:ext cx="6858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EBED2"/>
                </a:solidFill>
                <a:latin typeface="Aptos"/>
              </a:rPr>
              <a:t>NEXUS GESTÃO  •  PROJETO ACADÊMICO</a:t>
            </a:r>
            <a:endParaRPr sz="900" b="0" i="0">
              <a:solidFill>
                <a:srgbClr val="AEBED2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6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943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8D6BE"/>
                </a:solidFill>
                <a:latin typeface="Aptos"/>
              </a:rPr>
              <a:t>08 • DECISÕES DE PROJETO</a:t>
            </a:r>
            <a:endParaRPr sz="1000" b="1" i="0">
              <a:solidFill>
                <a:srgbClr val="28D6BE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6F9FC"/>
                </a:solidFill>
                <a:latin typeface="Aptos"/>
              </a:rPr>
              <a:t>O que a estrutura favorece</a:t>
            </a:r>
            <a:endParaRPr sz="29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344168"/>
            <a:ext cx="107899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AEBED2"/>
                </a:solidFill>
                <a:latin typeface="Aptos"/>
              </a:rPr>
              <a:t>A separação visual e técnica cria uma base para evoluir o protótipo.</a:t>
            </a:r>
            <a:endParaRPr sz="13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21792" y="1847088"/>
            <a:ext cx="713232" cy="41148"/>
          </a:xfrm>
          <a:prstGeom prst="rect">
            <a:avLst/>
          </a:prstGeom>
          <a:solidFill>
            <a:srgbClr val="28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09960" y="6428232"/>
            <a:ext cx="5029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AEBED2"/>
                </a:solidFill>
                <a:latin typeface="Aptos"/>
              </a:rPr>
              <a:t>09</a:t>
            </a:r>
            <a:endParaRPr sz="1000" b="1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731520" y="2286000"/>
            <a:ext cx="3429000" cy="1828800"/>
          </a:xfrm>
          <a:prstGeom prst="roundRect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395728"/>
            <a:ext cx="50292" cy="1609344"/>
          </a:xfrm>
          <a:prstGeom prst="rect">
            <a:avLst/>
          </a:prstGeom>
          <a:solidFill>
            <a:srgbClr val="28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487168"/>
            <a:ext cx="30175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6F9FC"/>
                </a:solidFill>
                <a:latin typeface="Aptos"/>
              </a:rPr>
              <a:t>Organização</a:t>
            </a:r>
            <a:endParaRPr sz="16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978408" y="2999232"/>
            <a:ext cx="2953512" cy="9875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EBED2"/>
                </a:solidFill>
                <a:latin typeface="Aptos"/>
              </a:rPr>
              <a:t>Módulos separados por tipo de informação facilitam a navegação.</a:t>
            </a:r>
            <a:endParaRPr sz="12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89120" y="2286000"/>
            <a:ext cx="3429000" cy="1828800"/>
          </a:xfrm>
          <a:prstGeom prst="roundRect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2395728"/>
            <a:ext cx="50292" cy="1609344"/>
          </a:xfrm>
          <a:prstGeom prst="rect">
            <a:avLst/>
          </a:prstGeom>
          <a:solidFill>
            <a:srgbClr val="5E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487168"/>
            <a:ext cx="30175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6F9FC"/>
                </a:solidFill>
                <a:latin typeface="Aptos"/>
              </a:rPr>
              <a:t>Manutenção</a:t>
            </a:r>
            <a:endParaRPr sz="16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36008" y="2999232"/>
            <a:ext cx="2953512" cy="9875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EBED2"/>
                </a:solidFill>
                <a:latin typeface="Aptos"/>
              </a:rPr>
              <a:t>Projetos organizados por responsabilidade podem evoluir em etapas.</a:t>
            </a:r>
            <a:endParaRPr sz="12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8046720" y="2286000"/>
            <a:ext cx="3429000" cy="1828800"/>
          </a:xfrm>
          <a:prstGeom prst="roundRect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2395728"/>
            <a:ext cx="50292" cy="1609344"/>
          </a:xfrm>
          <a:prstGeom prst="rect">
            <a:avLst/>
          </a:prstGeom>
          <a:solidFill>
            <a:srgbClr val="FFC2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2487168"/>
            <a:ext cx="3017520" cy="34747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F6F9FC"/>
                </a:solidFill>
                <a:latin typeface="Aptos"/>
              </a:rPr>
              <a:t>Evolução</a:t>
            </a:r>
            <a:endParaRPr sz="16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293608" y="2999232"/>
            <a:ext cx="2953512" cy="98755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EBED2"/>
                </a:solidFill>
                <a:latin typeface="Aptos"/>
              </a:rPr>
              <a:t>A API abre caminho para integração com outras interfaces ou clientes.</a:t>
            </a:r>
            <a:endParaRPr sz="12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21031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28D6BE"/>
                </a:solidFill>
                <a:latin typeface="Aptos"/>
              </a:rPr>
              <a:t>Princípio importante</a:t>
            </a:r>
            <a:endParaRPr sz="1500" b="1" i="0">
              <a:solidFill>
                <a:srgbClr val="28D6BE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2960" y="5138928"/>
            <a:ext cx="99669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F6F9FC"/>
                </a:solidFill>
                <a:latin typeface="Aptos"/>
              </a:rPr>
              <a:t>Um protótipo bem apresentado deixa claro o que já funciona, o que está separado e o que ainda será desenvolvido.</a:t>
            </a:r>
            <a:endParaRPr sz="21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21792" y="6446520"/>
            <a:ext cx="6858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EBED2"/>
                </a:solidFill>
                <a:latin typeface="Aptos"/>
              </a:rPr>
              <a:t>NEXUS GESTÃO  •  PROJETO ACADÊMICO</a:t>
            </a:r>
            <a:endParaRPr sz="900" b="0" i="0">
              <a:solidFill>
                <a:srgbClr val="AEBED2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6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47472"/>
            <a:ext cx="5943600" cy="2560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 i="0">
                <a:solidFill>
                  <a:srgbClr val="28D6BE"/>
                </a:solidFill>
                <a:latin typeface="Aptos"/>
              </a:rPr>
              <a:t>09 • PRÓXIMOS PASSOS</a:t>
            </a:r>
            <a:endParaRPr sz="1000" b="1" i="0">
              <a:solidFill>
                <a:srgbClr val="28D6BE"/>
              </a:solidFill>
              <a:latin typeface="Apto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713232"/>
            <a:ext cx="1097280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900" b="1" i="0">
                <a:solidFill>
                  <a:srgbClr val="F6F9FC"/>
                </a:solidFill>
                <a:latin typeface="Aptos"/>
              </a:rPr>
              <a:t>Como o Nexus pode evoluir</a:t>
            </a:r>
            <a:endParaRPr sz="29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2" y="1344168"/>
            <a:ext cx="10789920" cy="42062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AEBED2"/>
                </a:solidFill>
                <a:latin typeface="Aptos"/>
              </a:rPr>
              <a:t>Sugestões para transformar a demonstração em uma aplicação mais integrada.</a:t>
            </a:r>
            <a:endParaRPr sz="13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21792" y="1847088"/>
            <a:ext cx="713232" cy="41148"/>
          </a:xfrm>
          <a:prstGeom prst="rect">
            <a:avLst/>
          </a:prstGeom>
          <a:solidFill>
            <a:srgbClr val="28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09960" y="6428232"/>
            <a:ext cx="5029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 i="0">
                <a:solidFill>
                  <a:srgbClr val="AEBED2"/>
                </a:solidFill>
                <a:latin typeface="Aptos"/>
              </a:rPr>
              <a:t>10</a:t>
            </a:r>
            <a:endParaRPr sz="1000" b="1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7" name="Oval 6"/>
          <p:cNvSpPr/>
          <p:nvPr/>
        </p:nvSpPr>
        <p:spPr>
          <a:xfrm>
            <a:off x="841248" y="2203703"/>
            <a:ext cx="475488" cy="475488"/>
          </a:xfrm>
          <a:prstGeom prst="ellipse">
            <a:avLst/>
          </a:prstGeom>
          <a:solidFill>
            <a:srgbClr val="28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331720"/>
            <a:ext cx="420624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0C162A"/>
                </a:solidFill>
                <a:latin typeface="Aptos"/>
              </a:rPr>
              <a:t>01</a:t>
            </a:r>
            <a:endParaRPr sz="1000" b="1" i="0">
              <a:solidFill>
                <a:srgbClr val="0C162A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72768" y="2176272"/>
            <a:ext cx="29260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6F9FC"/>
                </a:solidFill>
                <a:latin typeface="Aptos"/>
              </a:rPr>
              <a:t>Integração Web ↔ API</a:t>
            </a:r>
            <a:endParaRPr sz="15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389120" y="2176272"/>
            <a:ext cx="667512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EBED2"/>
                </a:solidFill>
                <a:latin typeface="Aptos"/>
              </a:rPr>
              <a:t>Consumir os endpoints da API a partir da interface Web.</a:t>
            </a:r>
            <a:endParaRPr sz="12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069848" y="2688336"/>
            <a:ext cx="32004" cy="329184"/>
          </a:xfrm>
          <a:prstGeom prst="rect">
            <a:avLst/>
          </a:prstGeom>
          <a:solidFill>
            <a:srgbClr val="1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41248" y="3063239"/>
            <a:ext cx="475488" cy="475488"/>
          </a:xfrm>
          <a:prstGeom prst="ellipse">
            <a:avLst/>
          </a:prstGeom>
          <a:solidFill>
            <a:srgbClr val="28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191256"/>
            <a:ext cx="420624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0C162A"/>
                </a:solidFill>
                <a:latin typeface="Aptos"/>
              </a:rPr>
              <a:t>02</a:t>
            </a:r>
            <a:endParaRPr sz="1000" b="1" i="0">
              <a:solidFill>
                <a:srgbClr val="0C162A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572768" y="3035808"/>
            <a:ext cx="29260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6F9FC"/>
                </a:solidFill>
                <a:latin typeface="Aptos"/>
              </a:rPr>
              <a:t>Persistência consistente</a:t>
            </a:r>
            <a:endParaRPr sz="15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389120" y="3035808"/>
            <a:ext cx="667512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EBED2"/>
                </a:solidFill>
                <a:latin typeface="Aptos"/>
              </a:rPr>
              <a:t>Definir banco e estratégia de dados compartilhada quando necessário.</a:t>
            </a:r>
            <a:endParaRPr sz="12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69848" y="3547872"/>
            <a:ext cx="32004" cy="329184"/>
          </a:xfrm>
          <a:prstGeom prst="rect">
            <a:avLst/>
          </a:prstGeom>
          <a:solidFill>
            <a:srgbClr val="1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41248" y="3922776"/>
            <a:ext cx="475488" cy="475488"/>
          </a:xfrm>
          <a:prstGeom prst="ellipse">
            <a:avLst/>
          </a:prstGeom>
          <a:solidFill>
            <a:srgbClr val="5E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050791"/>
            <a:ext cx="420624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0C162A"/>
                </a:solidFill>
                <a:latin typeface="Aptos"/>
              </a:rPr>
              <a:t>03</a:t>
            </a:r>
            <a:endParaRPr sz="1000" b="1" i="0">
              <a:solidFill>
                <a:srgbClr val="0C162A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572768" y="3895344"/>
            <a:ext cx="29260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6F9FC"/>
                </a:solidFill>
                <a:latin typeface="Aptos"/>
              </a:rPr>
              <a:t>Validação de formulários</a:t>
            </a:r>
            <a:endParaRPr sz="15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389120" y="3895344"/>
            <a:ext cx="667512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EBED2"/>
                </a:solidFill>
                <a:latin typeface="Aptos"/>
              </a:rPr>
              <a:t>Validar campos obrigatórios e apresentar mensagens claras.</a:t>
            </a:r>
            <a:endParaRPr sz="12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1069848" y="4407408"/>
            <a:ext cx="32004" cy="329184"/>
          </a:xfrm>
          <a:prstGeom prst="rect">
            <a:avLst/>
          </a:prstGeom>
          <a:solidFill>
            <a:srgbClr val="1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41248" y="4782312"/>
            <a:ext cx="475488" cy="475488"/>
          </a:xfrm>
          <a:prstGeom prst="ellipse">
            <a:avLst/>
          </a:prstGeom>
          <a:solidFill>
            <a:srgbClr val="5E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910327"/>
            <a:ext cx="420624" cy="16459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 i="0">
                <a:solidFill>
                  <a:srgbClr val="0C162A"/>
                </a:solidFill>
                <a:latin typeface="Aptos"/>
              </a:rPr>
              <a:t>04</a:t>
            </a:r>
            <a:endParaRPr sz="1000" b="1" i="0">
              <a:solidFill>
                <a:srgbClr val="0C162A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572768" y="4754879"/>
            <a:ext cx="2926080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F6F9FC"/>
                </a:solidFill>
                <a:latin typeface="Aptos"/>
              </a:rPr>
              <a:t>Testes e segurança</a:t>
            </a:r>
            <a:endParaRPr sz="15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4389120" y="4754879"/>
            <a:ext cx="6675120" cy="43891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AEBED2"/>
                </a:solidFill>
                <a:latin typeface="Aptos"/>
              </a:rPr>
              <a:t>Criar testes e planejar autenticação/autorização conforme o escopo.</a:t>
            </a:r>
            <a:endParaRPr sz="1200" b="0" i="0">
              <a:solidFill>
                <a:srgbClr val="AEBED2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21792" y="6446520"/>
            <a:ext cx="685800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EBED2"/>
                </a:solidFill>
                <a:latin typeface="Aptos"/>
              </a:rPr>
              <a:t>NEXUS GESTÃO  •  PROJETO ACADÊMICO</a:t>
            </a:r>
            <a:endParaRPr sz="900" b="0" i="0">
              <a:solidFill>
                <a:srgbClr val="AEBED2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6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0" y="365760"/>
            <a:ext cx="4389120" cy="4389120"/>
          </a:xfrm>
          <a:prstGeom prst="ellipse">
            <a:avLst/>
          </a:prstGeom>
          <a:solidFill>
            <a:srgbClr val="1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1280160"/>
            <a:ext cx="2560320" cy="2560320"/>
          </a:xfrm>
          <a:prstGeom prst="ellipse">
            <a:avLst/>
          </a:prstGeom>
          <a:solidFill>
            <a:srgbClr val="192B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921240" y="2057400"/>
            <a:ext cx="1005840" cy="1005840"/>
          </a:xfrm>
          <a:prstGeom prst="ellipse">
            <a:avLst/>
          </a:prstGeom>
          <a:solidFill>
            <a:srgbClr val="28D6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676656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300" b="1" i="0">
                <a:solidFill>
                  <a:srgbClr val="F6F9FC"/>
                </a:solidFill>
                <a:latin typeface="Aptos"/>
              </a:rPr>
              <a:t>NEXUS GESTÃO</a:t>
            </a:r>
            <a:endParaRPr sz="33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04672" y="1691640"/>
            <a:ext cx="6583680" cy="1143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700" b="1" i="0">
                <a:solidFill>
                  <a:srgbClr val="28D6BE"/>
                </a:solidFill>
                <a:latin typeface="Aptos"/>
              </a:rPr>
              <a:t>Organização hoje.
Integração como próximo passo.</a:t>
            </a:r>
            <a:endParaRPr sz="2700" b="1" i="0">
              <a:solidFill>
                <a:srgbClr val="28D6BE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22960" y="3246120"/>
            <a:ext cx="667512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F6F9FC"/>
                </a:solidFill>
                <a:latin typeface="Aptos"/>
              </a:rPr>
              <a:t>O projeto apresenta uma base de interface administrativa e uma API separada, com oportunidades claras de evolução técnica.</a:t>
            </a:r>
            <a:endParaRPr sz="1700" b="0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822960" y="4663440"/>
            <a:ext cx="2286000" cy="530352"/>
          </a:xfrm>
          <a:prstGeom prst="roundRect">
            <a:avLst/>
          </a:prstGeom>
          <a:solidFill>
            <a:srgbClr val="14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818888"/>
            <a:ext cx="2011680" cy="1828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28D6BE"/>
                </a:solidFill>
                <a:latin typeface="Aptos"/>
              </a:rPr>
              <a:t>OBRIGADO!</a:t>
            </a:r>
            <a:endParaRPr sz="1200" b="1" i="0">
              <a:solidFill>
                <a:srgbClr val="28D6BE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83280" y="4818888"/>
            <a:ext cx="182880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F6F9FC"/>
                </a:solidFill>
                <a:latin typeface="Aptos"/>
              </a:rPr>
              <a:t>Perguntas?</a:t>
            </a:r>
            <a:endParaRPr sz="1400" b="1" i="0">
              <a:solidFill>
                <a:srgbClr val="F6F9FC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822960" y="6263640"/>
            <a:ext cx="566928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AEBED2"/>
                </a:solidFill>
                <a:latin typeface="Aptos"/>
              </a:rPr>
              <a:t>NEXUS GESTÃO  •  PROJETO ACADÊMICO</a:t>
            </a:r>
            <a:endParaRPr sz="900" b="0" i="0">
              <a:solidFill>
                <a:srgbClr val="AEBED2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5062</Words>
  <Application>WPS Presentation</Application>
  <PresentationFormat>On-screen Show (4:3)</PresentationFormat>
  <Paragraphs>352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1" baseType="lpstr">
      <vt:lpstr>Arial</vt:lpstr>
      <vt:lpstr>SimSun</vt:lpstr>
      <vt:lpstr>Wingdings</vt:lpstr>
      <vt:lpstr>Arial</vt:lpstr>
      <vt:lpstr>Aptos</vt:lpstr>
      <vt:lpstr>Segoe UI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pedro</cp:lastModifiedBy>
  <cp:revision>2</cp:revision>
  <dcterms:created xsi:type="dcterms:W3CDTF">2013-01-27T09:14:00Z</dcterms:created>
  <dcterms:modified xsi:type="dcterms:W3CDTF">2026-10-21T17:50:32Z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3589BD0EE74A434BBC423F4BBC98456C_12</vt:lpwstr>
  </property>
  <property fmtid="{D5CDD505-2E9C-101B-9397-08002B2CF9AE}" pid="3" name="KSOProductBuildVer">
    <vt:lpwstr>1046-12.1.0.29162</vt:lpwstr>
  </property>
</Properties>
</file>