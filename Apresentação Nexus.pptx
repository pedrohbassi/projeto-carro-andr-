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-685800"/>
            <a:ext cx="4754880" cy="4754880"/>
          </a:xfrm>
          <a:prstGeom prst="ellipse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82880"/>
            <a:ext cx="2834640" cy="2834640"/>
          </a:xfrm>
          <a:prstGeom prst="ellipse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868680"/>
            <a:ext cx="1463040" cy="1463040"/>
          </a:xfrm>
          <a:prstGeom prst="ellipse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73152" cy="1325880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713232"/>
            <a:ext cx="6492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6F9FC"/>
                </a:solidFill>
                <a:latin typeface="Aptos"/>
              </a:rPr>
              <a:t>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673352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8D6BE"/>
                </a:solidFill>
                <a:latin typeface="Aptos"/>
              </a:rPr>
              <a:t>GESTÃO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14600"/>
            <a:ext cx="67665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F6F9FC"/>
                </a:solidFill>
                <a:latin typeface="Aptos"/>
              </a:rPr>
              <a:t>Um protótipo de sistema para organizar
informações e rotinas administrativas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389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EBED2"/>
                </a:solidFill>
                <a:latin typeface="Aptos"/>
              </a:rPr>
              <a:t>APRESENTAÇÃO DO PROJETO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4617720"/>
            <a:ext cx="1874519" cy="502920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745736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8D6BE"/>
                </a:solidFill>
                <a:latin typeface="Aptos"/>
              </a:rPr>
              <a:t>WEB + 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6172200"/>
            <a:ext cx="7498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Projeto acadêmico • Java • Spring Boot • Thymeleaf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01 •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Por que o Nexus Gestão?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A proposta é reunir diferentes áreas administrativas em uma interface clara e consistente.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3520440" cy="20574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50008"/>
            <a:ext cx="50292" cy="1837943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2316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8D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2606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Informação dispersa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53512"/>
            <a:ext cx="3044952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Dados de pessoas, contas, veículos e serviços podem ficar separados em controles diferentes.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3520440" cy="20574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50008"/>
            <a:ext cx="50292" cy="1837943"/>
          </a:xfrm>
          <a:prstGeom prst="rect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5EBE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41448"/>
            <a:ext cx="2606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Rotina mais organizada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953512"/>
            <a:ext cx="3044952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Uma navegação única ajuda o usuário a localizar a área de trabalho com menos etapas.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240280"/>
            <a:ext cx="3520440" cy="20574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350008"/>
            <a:ext cx="50292" cy="1837943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42316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C25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441448"/>
            <a:ext cx="260603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Visão rápida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953512"/>
            <a:ext cx="3044952" cy="1216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O painel inicial oferece um resumo visual dos principais módulos do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8D6BE"/>
                </a:solidFill>
                <a:latin typeface="Aptos"/>
              </a:rPr>
              <a:t>Objetivo central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9875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6F9FC"/>
                </a:solidFill>
                <a:latin typeface="Aptos"/>
              </a:rPr>
              <a:t>Construir uma base visual e técnica que possa evoluir para uma solução administrativa integrada.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02 •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O que é o Nexus Gestão?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Um protótipo web com módulos administrativos e uma estrutura de API desenvolvida em Spring Boot.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12848"/>
            <a:ext cx="6629400" cy="34290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4203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8D6BE"/>
                </a:solidFill>
                <a:latin typeface="Aptos"/>
              </a:rPr>
              <a:t>INTERFACE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71800"/>
            <a:ext cx="5394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6F9FC"/>
                </a:solidFill>
                <a:latin typeface="Aptos"/>
              </a:rPr>
              <a:t>Dashboard e páginas de 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57600"/>
            <a:ext cx="5303520" cy="1554480"/>
          </a:xfrm>
          <a:prstGeom prst="rect">
            <a:avLst/>
          </a:prstGeom>
          <a:noFill/>
        </p:spPr>
        <p:txBody>
          <a:bodyPr wrap="square" lIns="73152" rIns="45720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Navegação entre módulos</a:t>
            </a:r>
          </a:p>
          <a:p>
            <a:pPr>
              <a:spcAft>
                <a:spcPts val="9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Telas renderizadas com Thymeleaf</a:t>
            </a:r>
          </a:p>
          <a:p>
            <a:pPr>
              <a:spcAft>
                <a:spcPts val="9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Estilização própria em CSS</a:t>
            </a:r>
          </a:p>
          <a:p>
            <a:pPr>
              <a:spcAft>
                <a:spcPts val="9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Projeto executado localmente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212848"/>
            <a:ext cx="3794760" cy="3429000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2578608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EBEFF"/>
                </a:solidFill>
                <a:latin typeface="Aptos"/>
              </a:rPr>
              <a:t>API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999232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6F9FC"/>
                </a:solidFill>
                <a:latin typeface="Aptos"/>
              </a:rPr>
              <a:t>Camada de serviços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675887"/>
            <a:ext cx="2880360" cy="1463040"/>
          </a:xfrm>
          <a:prstGeom prst="rect">
            <a:avLst/>
          </a:prstGeom>
          <a:noFill/>
        </p:spPr>
        <p:txBody>
          <a:bodyPr wrap="square" lIns="73152" rIns="45720" tIns="36576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•  Endpoints HTTP</a:t>
            </a:r>
          </a:p>
          <a:p>
            <a:pPr>
              <a:spcAft>
                <a:spcPts val="90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•  Estrutura separada da Web</a:t>
            </a:r>
          </a:p>
          <a:p>
            <a:pPr>
              <a:spcAft>
                <a:spcPts val="90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•  Base para integração futura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870448"/>
            <a:ext cx="10515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FFC25C"/>
                </a:solidFill>
                <a:latin typeface="Aptos"/>
              </a:rPr>
              <a:t>Nota técnica: na versão descrita no repositório, Web e API são projetos independentes e usam bancos H2 separados.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03 • MÓDULOS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Quatro áreas em uma mesma 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Cada módulo representa uma categoria de informação administrativa.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94560"/>
            <a:ext cx="5257800" cy="141732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04288"/>
            <a:ext cx="50292" cy="119786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7744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8D6B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395728"/>
            <a:ext cx="4343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Funcionários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1"/>
            <a:ext cx="478231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Organização de informações relacionadas à equipe.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257800" cy="141732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304288"/>
            <a:ext cx="50292" cy="119786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37744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C25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395728"/>
            <a:ext cx="4343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Contas do 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07791"/>
            <a:ext cx="478231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Área dedicada ao acompanhamento de contas e despesas.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86200"/>
            <a:ext cx="5257800" cy="141732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995928"/>
            <a:ext cx="50292" cy="1197864"/>
          </a:xfrm>
          <a:prstGeom prst="rect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6908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5EBE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87368"/>
            <a:ext cx="4343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Veículos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8231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Espaço para centralizar informações de veículos.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886200"/>
            <a:ext cx="5257800" cy="141732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995928"/>
            <a:ext cx="50292" cy="1197864"/>
          </a:xfrm>
          <a:prstGeom prst="rect">
            <a:avLst/>
          </a:prstGeom>
          <a:solidFill>
            <a:srgbClr val="74E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069080"/>
            <a:ext cx="457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74E0A6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087368"/>
            <a:ext cx="4343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Serviços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99432"/>
            <a:ext cx="478231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Área para registrar e consultar informações de serviços.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ED2"/>
                </a:solidFill>
                <a:latin typeface="Aptos"/>
              </a:rPr>
              <a:t>Os detalhes de campos e operações podem ser ajustados conforme os requisitos finais do grupo.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04 •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Dashboard: 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O painel resume as áreas do sistema e orienta o usuário para a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7498079" cy="3749039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1234440" cy="3749039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8D6BE"/>
                </a:solidFill>
                <a:latin typeface="Aptos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063240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6F9FC"/>
                </a:solidFill>
                <a:latin typeface="Aptos"/>
              </a:rPr>
              <a:t>Início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20440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Funcionários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977639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Contas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434840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Veículos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892040"/>
            <a:ext cx="960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Serviços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487168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9273D"/>
                </a:solidFill>
                <a:latin typeface="Aptos"/>
              </a:rPr>
              <a:t>Visão geral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834640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C80"/>
                </a:solidFill>
                <a:latin typeface="Aptos"/>
              </a:rPr>
              <a:t>Resumo da gestão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3337560"/>
            <a:ext cx="1554480" cy="100584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337560"/>
            <a:ext cx="1554480" cy="5486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352044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9273D"/>
                </a:solidFill>
                <a:latin typeface="Apto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391363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6C80"/>
                </a:solidFill>
                <a:latin typeface="Aptos"/>
              </a:rPr>
              <a:t>Funcionários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337560"/>
            <a:ext cx="1554480" cy="100584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3337560"/>
            <a:ext cx="1554480" cy="5486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2231" y="352044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9273D"/>
                </a:solidFill>
                <a:latin typeface="Apto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1" y="391363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6C80"/>
                </a:solidFill>
                <a:latin typeface="Aptos"/>
              </a:rPr>
              <a:t>Contas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337560"/>
            <a:ext cx="1554480" cy="100584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3337560"/>
            <a:ext cx="1554480" cy="54864"/>
          </a:xfrm>
          <a:prstGeom prst="rect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3520440"/>
            <a:ext cx="1143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9273D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91363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6C80"/>
                </a:solidFill>
                <a:latin typeface="Aptos"/>
              </a:rPr>
              <a:t>Veículos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572000"/>
            <a:ext cx="5120640" cy="91440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736592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273D"/>
                </a:solidFill>
                <a:latin typeface="Aptos"/>
              </a:rPr>
              <a:t>Acesso rápido aos módulos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074920"/>
            <a:ext cx="4526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6C80"/>
                </a:solidFill>
                <a:latin typeface="Aptos"/>
              </a:rPr>
              <a:t>Funcionários   •   Contas   •   Veículos   •   Serviços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41848"/>
            <a:ext cx="1828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5A6C80"/>
                </a:solidFill>
                <a:latin typeface="Aptos"/>
              </a:rPr>
              <a:t>EXEMPLO ILUSTRATIVO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2240280"/>
            <a:ext cx="2971800" cy="105156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200" y="2350008"/>
            <a:ext cx="50292" cy="832103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441448"/>
            <a:ext cx="2560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Hierarquia visual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2953512"/>
            <a:ext cx="2496312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Títulos e indicadores organizam a leitura.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3520440"/>
            <a:ext cx="2971800" cy="105156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8200" y="3630168"/>
            <a:ext cx="50292" cy="832103"/>
          </a:xfrm>
          <a:prstGeom prst="rect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721608"/>
            <a:ext cx="2560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Navegação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4233672"/>
            <a:ext cx="2496312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Menu lateral mantém os módulos acessíveis.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4800600"/>
            <a:ext cx="2971800" cy="105156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58200" y="4910328"/>
            <a:ext cx="50292" cy="832103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001768"/>
            <a:ext cx="2560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Consistência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5513832"/>
            <a:ext cx="2496312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Padrões de layout podem ser reutilizados.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05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Como a solução está organizada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Separação em dois projetos permite desenvolver interface e API de forma independente.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2971800" cy="123444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331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6F9FC"/>
                </a:solidFill>
                <a:latin typeface="Aptos"/>
              </a:rPr>
              <a:t>USUÁRIO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Navegador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2971800" cy="1737360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441448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8D6BE"/>
                </a:solidFill>
                <a:latin typeface="Aptos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26080"/>
            <a:ext cx="2514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6F9FC"/>
                </a:solidFill>
                <a:latin typeface="Aptos"/>
              </a:rPr>
              <a:t>Spring Boot + Thymeleaf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337560"/>
            <a:ext cx="2148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EBED2"/>
                </a:solidFill>
                <a:latin typeface="Aptos"/>
              </a:rPr>
              <a:t>Porta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148840"/>
            <a:ext cx="2971800" cy="1737360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441448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EBEFF"/>
                </a:solidFill>
                <a:latin typeface="Aptos"/>
              </a:rPr>
              <a:t>API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926080"/>
            <a:ext cx="2514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6F9FC"/>
                </a:solidFill>
                <a:latin typeface="Aptos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37560"/>
            <a:ext cx="2148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EBED2"/>
                </a:solidFill>
                <a:latin typeface="Aptos"/>
              </a:rPr>
              <a:t>Porta 8081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39" y="3035808"/>
            <a:ext cx="822961" cy="0"/>
          </a:xfrm>
          <a:prstGeom prst="line">
            <a:avLst/>
          </a:prstGeom>
          <a:ln w="27940">
            <a:solidFill>
              <a:srgbClr val="28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43800" y="3035808"/>
            <a:ext cx="822960" cy="0"/>
          </a:xfrm>
          <a:prstGeom prst="line">
            <a:avLst/>
          </a:prstGeom>
          <a:ln w="27940">
            <a:solidFill>
              <a:srgbClr val="28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0" y="422452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C"/>
                </a:solidFill>
                <a:latin typeface="Aptos"/>
              </a:rPr>
              <a:t>Banco H2 do projeto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22452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6F9FC"/>
                </a:solidFill>
                <a:latin typeface="Aptos"/>
              </a:rPr>
              <a:t>Banco H2 do projeto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25C"/>
                </a:solidFill>
                <a:latin typeface="Aptos"/>
              </a:rPr>
              <a:t>Importante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37760"/>
            <a:ext cx="8869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6F9FC"/>
                </a:solidFill>
                <a:latin typeface="Aptos"/>
              </a:rPr>
              <a:t>Nesta versão, os bancos são separados e a comunicação entre Web e API ainda precisa ser confirmada/implementada.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06 • TECNOLOGIAS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Ferramentas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Cada tecnologia contribui para uma parte específica do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4144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8D6BE"/>
                </a:solidFill>
                <a:latin typeface="Aptos"/>
              </a:rPr>
              <a:t>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6207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Linguagem principal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4028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4144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BEFF"/>
                </a:solidFill>
                <a:latin typeface="Aptos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6207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Estrutura dos projetos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4028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44144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25C"/>
                </a:solidFill>
                <a:latin typeface="Aptos"/>
              </a:rPr>
              <a:t>THYMELEAF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6207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Renderização de páginas 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4E0A6"/>
                </a:solidFill>
                <a:latin typeface="Aptos"/>
              </a:rPr>
              <a:t>HTML +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5371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Estrutura e aparência da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93192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13308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8D6BE"/>
                </a:solidFill>
                <a:latin typeface="Aptos"/>
              </a:rPr>
              <a:t>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55371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Banco de dados em memória para desenvolvimento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931920"/>
            <a:ext cx="3429000" cy="132588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13308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BEFF"/>
                </a:solidFill>
                <a:latin typeface="Aptos"/>
              </a:rPr>
              <a:t>MAVEN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55371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6F9FC"/>
                </a:solidFill>
                <a:latin typeface="Aptos"/>
              </a:rPr>
              <a:t>Gerenciamento de dependências e execução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60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EBED2"/>
                </a:solidFill>
                <a:latin typeface="Aptos"/>
              </a:rPr>
              <a:t>O README do repositório recomenda Java 17+ e Maven para executar os projetos localmente.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07 • FLUXO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Da navegação à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Fluxo conceitual de interação na interface Web.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2514600" cy="214884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85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8D6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5584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Abrir o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Usuário acessa a aplicação local pelo navegador.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3552" y="3657600"/>
            <a:ext cx="274320" cy="0"/>
          </a:xfrm>
          <a:prstGeom prst="line">
            <a:avLst/>
          </a:prstGeom>
          <a:ln w="25400">
            <a:solidFill>
              <a:srgbClr val="28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606040"/>
            <a:ext cx="2514600" cy="214884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816352"/>
            <a:ext cx="685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EBE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35584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Escolher um 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977639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Menu lateral direciona para a área desejada.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53912" y="3657600"/>
            <a:ext cx="274320" cy="0"/>
          </a:xfrm>
          <a:prstGeom prst="line">
            <a:avLst/>
          </a:prstGeom>
          <a:ln w="25400">
            <a:solidFill>
              <a:srgbClr val="28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2240" y="2606040"/>
            <a:ext cx="2514600" cy="214884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7" y="2816352"/>
            <a:ext cx="685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8D6B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335584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Consultar ou preencher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3977639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A tela apresenta campos e informações do módulo.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34272" y="3657600"/>
            <a:ext cx="274320" cy="0"/>
          </a:xfrm>
          <a:prstGeom prst="line">
            <a:avLst/>
          </a:prstGeom>
          <a:ln w="25400">
            <a:solidFill>
              <a:srgbClr val="28D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72600" y="2606040"/>
            <a:ext cx="2514600" cy="214884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2816352"/>
            <a:ext cx="685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EBE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35584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Revisar o 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3977639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Usuário verifica os dados exibidos e segue a rotina.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FFC25C"/>
                </a:solidFill>
                <a:latin typeface="Aptos"/>
              </a:rPr>
              <a:t>O comportamento final depende dos recursos implementados em cada tela e dos requisitos definidos pelo grupo.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08 • DECISÕES DE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O que a estrutura favorece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A separação visual e técnica cria uma base para evoluir o protótipo.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429000" cy="18288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95728"/>
            <a:ext cx="50292" cy="160934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Organização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99232"/>
            <a:ext cx="2953512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Módulos separados por tipo de informação facilitam a navegação.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29000" cy="18288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95728"/>
            <a:ext cx="50292" cy="1609344"/>
          </a:xfrm>
          <a:prstGeom prst="rect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Manutenção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999232"/>
            <a:ext cx="2953512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Projetos organizados por responsabilidade podem evoluir em etapas.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429000" cy="1828800"/>
          </a:xfrm>
          <a:prstGeom prst="round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95728"/>
            <a:ext cx="50292" cy="1609344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9FC"/>
                </a:solidFill>
                <a:latin typeface="Aptos"/>
              </a:rPr>
              <a:t>Evolução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99232"/>
            <a:ext cx="2953512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A API abre caminho para integração com outras interfaces ou clientes.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8D6BE"/>
                </a:solidFill>
                <a:latin typeface="Aptos"/>
              </a:rPr>
              <a:t>Princípio importante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9966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6F9FC"/>
                </a:solidFill>
                <a:latin typeface="Aptos"/>
              </a:rPr>
              <a:t>Um protótipo bem apresentado deixa claro o que já funciona, o que está separado e o que ainda será desenvolvido.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8D6BE"/>
                </a:solidFill>
                <a:latin typeface="Aptos"/>
              </a:rPr>
              <a:t>09 •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9FC"/>
                </a:solidFill>
                <a:latin typeface="Aptos"/>
              </a:rPr>
              <a:t>Como o Nexus pode evoluir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Sugestões para transformar a demonstração em uma aplicação mais integrada.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47088"/>
            <a:ext cx="713232" cy="41148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203703"/>
            <a:ext cx="475488" cy="475488"/>
          </a:xfrm>
          <a:prstGeom prst="ellipse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206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62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76272"/>
            <a:ext cx="2926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C"/>
                </a:solidFill>
                <a:latin typeface="Aptos"/>
              </a:rPr>
              <a:t>Integração Web ↔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7627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Consumir os endpoints da API a partir da interface Web.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2688336"/>
            <a:ext cx="32004" cy="329184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063239"/>
            <a:ext cx="475488" cy="475488"/>
          </a:xfrm>
          <a:prstGeom prst="ellipse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4206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62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35808"/>
            <a:ext cx="2926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C"/>
                </a:solidFill>
                <a:latin typeface="Aptos"/>
              </a:rPr>
              <a:t>Persistência consistente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35808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Definir banco e estratégia de dados compartilhada quando necessário.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547872"/>
            <a:ext cx="32004" cy="329184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922776"/>
            <a:ext cx="475488" cy="475488"/>
          </a:xfrm>
          <a:prstGeom prst="ellipse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50791"/>
            <a:ext cx="4206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62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95344"/>
            <a:ext cx="2926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C"/>
                </a:solidFill>
                <a:latin typeface="Aptos"/>
              </a:rPr>
              <a:t>Validação de formulários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95344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Validar campos obrigatórios e apresentar mensagens claras.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4407408"/>
            <a:ext cx="32004" cy="329184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4782312"/>
            <a:ext cx="475488" cy="475488"/>
          </a:xfrm>
          <a:prstGeom prst="ellipse">
            <a:avLst/>
          </a:prstGeom>
          <a:solidFill>
            <a:srgbClr val="5E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7"/>
            <a:ext cx="4206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62A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754879"/>
            <a:ext cx="2926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9FC"/>
                </a:solidFill>
                <a:latin typeface="Aptos"/>
              </a:rPr>
              <a:t>Testes e 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54879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Criar testes e planejar autenticação/autorização conforme o escopo.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65760"/>
            <a:ext cx="4389120" cy="4389120"/>
          </a:xfrm>
          <a:prstGeom prst="ellipse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280160"/>
            <a:ext cx="2560320" cy="2560320"/>
          </a:xfrm>
          <a:prstGeom prst="ellipse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21240" y="2057400"/>
            <a:ext cx="1005840" cy="1005840"/>
          </a:xfrm>
          <a:prstGeom prst="ellipse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6766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6F9FC"/>
                </a:solidFill>
                <a:latin typeface="Aptos"/>
              </a:rPr>
              <a:t>NEXUS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6583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8D6BE"/>
                </a:solidFill>
                <a:latin typeface="Aptos"/>
              </a:rPr>
              <a:t>Organização hoje.
Integração como próximo passo.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675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6F9FC"/>
                </a:solidFill>
                <a:latin typeface="Aptos"/>
              </a:rPr>
              <a:t>O projeto apresenta uma base de interface administrativa e uma API separada, com oportunidades claras de evolução técnica.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2286000" cy="530352"/>
          </a:xfrm>
          <a:prstGeom prst="round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18888"/>
            <a:ext cx="20116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8D6BE"/>
                </a:solidFill>
                <a:latin typeface="Aptos"/>
              </a:rPr>
              <a:t>OBRIGADO!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81888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9FC"/>
                </a:solidFill>
                <a:latin typeface="Aptos"/>
              </a:rPr>
              <a:t>Perguntas?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5669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EBED2"/>
                </a:solidFill>
                <a:latin typeface="Aptos"/>
              </a:rPr>
              <a:t>NEXUS GESTÃO  •  PROJETO ACADÊMICO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